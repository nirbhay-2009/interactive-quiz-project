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chivo Narrow Bold" panose="020B0604020202020204" charset="0"/>
      <p:regular r:id="rId13"/>
    </p:embeddedFont>
    <p:embeddedFont>
      <p:font typeface="Inter" panose="020B0604020202020204" charset="0"/>
      <p:regular r:id="rId14"/>
    </p:embeddedFont>
    <p:embeddedFont>
      <p:font typeface="Inter Bold" panose="020B0604020202020204" charset="0"/>
      <p:regular r:id="rId15"/>
    </p:embeddedFont>
    <p:embeddedFont>
      <p:font typeface="Inter Italics" panose="020B0604020202020204" charset="0"/>
      <p:regular r:id="rId16"/>
    </p:embeddedFont>
    <p:embeddedFont>
      <p:font typeface="Inter Medium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CDCD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EE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5095" y="915114"/>
            <a:ext cx="10676077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2C4C7C"/>
                </a:solidFill>
                <a:latin typeface="Inter Bold"/>
                <a:ea typeface="Inter Bold"/>
                <a:cs typeface="Inter Bold"/>
                <a:sym typeface="Inter Bold"/>
              </a:rPr>
              <a:t>ACADEMIC PROJECT PRESENTATION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5095" y="1337015"/>
            <a:ext cx="9760982" cy="206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30"/>
              </a:lnSpc>
            </a:pPr>
            <a:r>
              <a:rPr lang="en-US" sz="7806" b="1" spc="-141">
                <a:solidFill>
                  <a:srgbClr val="1A1A1A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INTERACTIVE</a:t>
            </a:r>
          </a:p>
          <a:p>
            <a:pPr algn="l">
              <a:lnSpc>
                <a:spcPts val="8430"/>
              </a:lnSpc>
            </a:pPr>
            <a:r>
              <a:rPr lang="en-US" sz="7806" b="1" spc="-141">
                <a:solidFill>
                  <a:srgbClr val="1A1A1A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QUIZ PROJECT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5095" y="3630854"/>
            <a:ext cx="10676077" cy="46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An interactive and engaging quiz-based learning system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5095" y="8742740"/>
            <a:ext cx="9760982" cy="47511"/>
            <a:chOff x="0" y="0"/>
            <a:chExt cx="13014643" cy="633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014579" cy="63247"/>
            </a:xfrm>
            <a:custGeom>
              <a:avLst/>
              <a:gdLst/>
              <a:ahLst/>
              <a:cxnLst/>
              <a:rect l="l" t="t" r="r" b="b"/>
              <a:pathLst>
                <a:path w="13014579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12982956" y="0"/>
                  </a:lnTo>
                  <a:cubicBezTo>
                    <a:pt x="13000482" y="0"/>
                    <a:pt x="13014579" y="14224"/>
                    <a:pt x="13014579" y="31623"/>
                  </a:cubicBezTo>
                  <a:cubicBezTo>
                    <a:pt x="13014579" y="49149"/>
                    <a:pt x="13000355" y="63246"/>
                    <a:pt x="12982956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C4C7C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915095" y="9081164"/>
            <a:ext cx="10676077" cy="29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576" b="1" spc="15">
                <a:solidFill>
                  <a:srgbClr val="6A6A68"/>
                </a:solidFill>
                <a:latin typeface="Inter Medium"/>
                <a:ea typeface="Inter Medium"/>
                <a:cs typeface="Inter Medium"/>
                <a:sym typeface="Inter Medium"/>
              </a:rPr>
              <a:t>Automated evaluation, real-time feedback, and dynamic question delivery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06258" y="915114"/>
            <a:ext cx="5795582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2C4C7C"/>
                </a:solidFill>
                <a:latin typeface="Inter Bold"/>
                <a:ea typeface="Inter Bold"/>
                <a:cs typeface="Inter Bold"/>
                <a:sym typeface="Inter Bold"/>
              </a:rPr>
              <a:t>PRESENTED BY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506258" y="1470527"/>
            <a:ext cx="610057" cy="47511"/>
            <a:chOff x="0" y="0"/>
            <a:chExt cx="813410" cy="633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3308" cy="63247"/>
            </a:xfrm>
            <a:custGeom>
              <a:avLst/>
              <a:gdLst/>
              <a:ahLst/>
              <a:cxnLst/>
              <a:rect l="l" t="t" r="r" b="b"/>
              <a:pathLst>
                <a:path w="813308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781685" y="0"/>
                  </a:lnTo>
                  <a:cubicBezTo>
                    <a:pt x="799211" y="0"/>
                    <a:pt x="813308" y="14224"/>
                    <a:pt x="813308" y="31623"/>
                  </a:cubicBezTo>
                  <a:cubicBezTo>
                    <a:pt x="813308" y="49149"/>
                    <a:pt x="799084" y="63246"/>
                    <a:pt x="781685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C4C7C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2506258" y="1780375"/>
            <a:ext cx="4880496" cy="1705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1"/>
              </a:lnSpc>
            </a:pPr>
            <a:r>
              <a:rPr lang="en-US" sz="2401" b="1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Akash Jaiswar (25925)</a:t>
            </a:r>
          </a:p>
          <a:p>
            <a:pPr algn="l">
              <a:lnSpc>
                <a:spcPts val="3401"/>
              </a:lnSpc>
            </a:pPr>
            <a:r>
              <a:rPr lang="en-US" sz="2401" b="1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Nirbhay More (25935)</a:t>
            </a:r>
          </a:p>
          <a:p>
            <a:pPr algn="l">
              <a:lnSpc>
                <a:spcPts val="3401"/>
              </a:lnSpc>
            </a:pPr>
            <a:r>
              <a:rPr lang="en-US" sz="2401" b="1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Gouss Mulla(25936)</a:t>
            </a:r>
          </a:p>
          <a:p>
            <a:pPr algn="l">
              <a:lnSpc>
                <a:spcPts val="3401"/>
              </a:lnSpc>
            </a:pPr>
            <a:r>
              <a:rPr lang="en-US" sz="2401" b="1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Gitesh Netkar(25938)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506258" y="8258823"/>
            <a:ext cx="4880343" cy="47511"/>
            <a:chOff x="0" y="0"/>
            <a:chExt cx="6507124" cy="6334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507099" cy="63247"/>
            </a:xfrm>
            <a:custGeom>
              <a:avLst/>
              <a:gdLst/>
              <a:ahLst/>
              <a:cxnLst/>
              <a:rect l="l" t="t" r="r" b="b"/>
              <a:pathLst>
                <a:path w="6507099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6475476" y="0"/>
                  </a:lnTo>
                  <a:cubicBezTo>
                    <a:pt x="6493002" y="0"/>
                    <a:pt x="6507099" y="14224"/>
                    <a:pt x="6507099" y="31623"/>
                  </a:cubicBezTo>
                  <a:cubicBezTo>
                    <a:pt x="6507099" y="49149"/>
                    <a:pt x="6492875" y="63246"/>
                    <a:pt x="6475476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C4C7C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2506258" y="8625821"/>
            <a:ext cx="5795582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2C4C7C"/>
                </a:solidFill>
                <a:latin typeface="Inter Bold"/>
                <a:ea typeface="Inter Bold"/>
                <a:cs typeface="Inter Bold"/>
                <a:sym typeface="Inter Bold"/>
              </a:rPr>
              <a:t>PROJECT DOMAIN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06258" y="9081164"/>
            <a:ext cx="5795582" cy="29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576" b="1" spc="15">
                <a:solidFill>
                  <a:srgbClr val="6A6A68"/>
                </a:solidFill>
                <a:latin typeface="Inter Medium"/>
                <a:ea typeface="Inter Medium"/>
                <a:cs typeface="Inter Medium"/>
                <a:sym typeface="Inter Medium"/>
              </a:rPr>
              <a:t>Software Engineering / Computer Applications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1581638" y="0"/>
            <a:ext cx="19069" cy="10295039"/>
            <a:chOff x="0" y="0"/>
            <a:chExt cx="25425" cy="137267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5400" cy="13726668"/>
            </a:xfrm>
            <a:custGeom>
              <a:avLst/>
              <a:gdLst/>
              <a:ahLst/>
              <a:cxnLst/>
              <a:rect l="l" t="t" r="r" b="b"/>
              <a:pathLst>
                <a:path w="25400" h="13726668">
                  <a:moveTo>
                    <a:pt x="0" y="0"/>
                  </a:moveTo>
                  <a:lnTo>
                    <a:pt x="25400" y="0"/>
                  </a:lnTo>
                  <a:lnTo>
                    <a:pt x="25400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C4C7C"/>
            </a:solid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CDCD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EE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5095" y="915114"/>
            <a:ext cx="17386744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2C4C7C"/>
                </a:solidFill>
                <a:latin typeface="Inter Bold"/>
                <a:ea typeface="Inter Bold"/>
                <a:cs typeface="Inter Bold"/>
                <a:sym typeface="Inter Bold"/>
              </a:rPr>
              <a:t>SYSTEM OVERVIEW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5095" y="1470527"/>
            <a:ext cx="2058962" cy="47511"/>
            <a:chOff x="0" y="0"/>
            <a:chExt cx="2745283" cy="633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45232" cy="63247"/>
            </a:xfrm>
            <a:custGeom>
              <a:avLst/>
              <a:gdLst/>
              <a:ahLst/>
              <a:cxnLst/>
              <a:rect l="l" t="t" r="r" b="b"/>
              <a:pathLst>
                <a:path w="2745232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713609" y="0"/>
                  </a:lnTo>
                  <a:cubicBezTo>
                    <a:pt x="2731135" y="0"/>
                    <a:pt x="2745232" y="14224"/>
                    <a:pt x="2745232" y="31623"/>
                  </a:cubicBezTo>
                  <a:cubicBezTo>
                    <a:pt x="2745232" y="49149"/>
                    <a:pt x="2731008" y="63246"/>
                    <a:pt x="2713609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C4C7C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915095" y="2118693"/>
            <a:ext cx="16471659" cy="6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8"/>
              </a:lnSpc>
            </a:pPr>
            <a:r>
              <a:rPr lang="en-US" sz="4803" b="1" spc="-87">
                <a:solidFill>
                  <a:srgbClr val="1A1A1A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INTRODUCTION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5095" y="2949140"/>
            <a:ext cx="17386744" cy="46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 modern platform designed to make learning active, measurable, and engaging.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15095" y="3797637"/>
            <a:ext cx="2928328" cy="5582288"/>
            <a:chOff x="0" y="0"/>
            <a:chExt cx="3904437" cy="74430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904488" cy="7443089"/>
            </a:xfrm>
            <a:custGeom>
              <a:avLst/>
              <a:gdLst/>
              <a:ahLst/>
              <a:cxnLst/>
              <a:rect l="l" t="t" r="r" b="b"/>
              <a:pathLst>
                <a:path w="3904488" h="7443089">
                  <a:moveTo>
                    <a:pt x="0" y="0"/>
                  </a:moveTo>
                  <a:lnTo>
                    <a:pt x="3904488" y="0"/>
                  </a:lnTo>
                  <a:lnTo>
                    <a:pt x="3904488" y="7443089"/>
                  </a:lnTo>
                  <a:lnTo>
                    <a:pt x="0" y="744308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915095" y="3797637"/>
            <a:ext cx="2928328" cy="57198"/>
            <a:chOff x="0" y="0"/>
            <a:chExt cx="3904437" cy="762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904488" cy="76200"/>
            </a:xfrm>
            <a:custGeom>
              <a:avLst/>
              <a:gdLst/>
              <a:ahLst/>
              <a:cxnLst/>
              <a:rect l="l" t="t" r="r" b="b"/>
              <a:pathLst>
                <a:path w="3904488" h="76200">
                  <a:moveTo>
                    <a:pt x="0" y="0"/>
                  </a:moveTo>
                  <a:lnTo>
                    <a:pt x="3904488" y="0"/>
                  </a:lnTo>
                  <a:lnTo>
                    <a:pt x="390448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C4C7C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181995" y="4188447"/>
            <a:ext cx="1186910" cy="22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1951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1995" y="4511088"/>
            <a:ext cx="2394518" cy="970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002" spc="-54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Digital Learning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81995" y="5633866"/>
            <a:ext cx="2394518" cy="2145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Structured quiz-based learning system replacing static manual drills.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300814" y="3797637"/>
            <a:ext cx="2928328" cy="5582288"/>
            <a:chOff x="0" y="0"/>
            <a:chExt cx="3904437" cy="744305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904488" cy="7443089"/>
            </a:xfrm>
            <a:custGeom>
              <a:avLst/>
              <a:gdLst/>
              <a:ahLst/>
              <a:cxnLst/>
              <a:rect l="l" t="t" r="r" b="b"/>
              <a:pathLst>
                <a:path w="3904488" h="7443089">
                  <a:moveTo>
                    <a:pt x="0" y="0"/>
                  </a:moveTo>
                  <a:lnTo>
                    <a:pt x="3904488" y="0"/>
                  </a:lnTo>
                  <a:lnTo>
                    <a:pt x="3904488" y="7443089"/>
                  </a:lnTo>
                  <a:lnTo>
                    <a:pt x="0" y="744308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4300814" y="3797637"/>
            <a:ext cx="2928328" cy="57198"/>
            <a:chOff x="0" y="0"/>
            <a:chExt cx="3904437" cy="7626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904488" cy="76200"/>
            </a:xfrm>
            <a:custGeom>
              <a:avLst/>
              <a:gdLst/>
              <a:ahLst/>
              <a:cxnLst/>
              <a:rect l="l" t="t" r="r" b="b"/>
              <a:pathLst>
                <a:path w="3904488" h="76200">
                  <a:moveTo>
                    <a:pt x="0" y="0"/>
                  </a:moveTo>
                  <a:lnTo>
                    <a:pt x="3904488" y="0"/>
                  </a:lnTo>
                  <a:lnTo>
                    <a:pt x="390448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C4C7C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4567714" y="4188447"/>
            <a:ext cx="1237097" cy="22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1951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67714" y="4511088"/>
            <a:ext cx="2394518" cy="970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002" spc="-54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Interactive Space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67714" y="5633866"/>
            <a:ext cx="2394518" cy="2565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Users actively answer questions inside an intuitive digital environment.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686532" y="3797637"/>
            <a:ext cx="2928623" cy="5582288"/>
            <a:chOff x="0" y="0"/>
            <a:chExt cx="3904831" cy="744305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904869" cy="7443089"/>
            </a:xfrm>
            <a:custGeom>
              <a:avLst/>
              <a:gdLst/>
              <a:ahLst/>
              <a:cxnLst/>
              <a:rect l="l" t="t" r="r" b="b"/>
              <a:pathLst>
                <a:path w="3904869" h="7443089">
                  <a:moveTo>
                    <a:pt x="0" y="0"/>
                  </a:moveTo>
                  <a:lnTo>
                    <a:pt x="3904869" y="0"/>
                  </a:lnTo>
                  <a:lnTo>
                    <a:pt x="3904869" y="7443089"/>
                  </a:lnTo>
                  <a:lnTo>
                    <a:pt x="0" y="744308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7686532" y="3797637"/>
            <a:ext cx="2928623" cy="57198"/>
            <a:chOff x="0" y="0"/>
            <a:chExt cx="3904831" cy="7626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904869" cy="76200"/>
            </a:xfrm>
            <a:custGeom>
              <a:avLst/>
              <a:gdLst/>
              <a:ahLst/>
              <a:cxnLst/>
              <a:rect l="l" t="t" r="r" b="b"/>
              <a:pathLst>
                <a:path w="3904869" h="76200">
                  <a:moveTo>
                    <a:pt x="0" y="0"/>
                  </a:moveTo>
                  <a:lnTo>
                    <a:pt x="3904869" y="0"/>
                  </a:lnTo>
                  <a:lnTo>
                    <a:pt x="390486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C4C7C"/>
            </a:solidFill>
          </p:spPr>
        </p:sp>
      </p:grpSp>
      <p:sp>
        <p:nvSpPr>
          <p:cNvPr id="29" name="TextBox 29"/>
          <p:cNvSpPr txBox="1"/>
          <p:nvPr/>
        </p:nvSpPr>
        <p:spPr>
          <a:xfrm>
            <a:off x="7953442" y="4188447"/>
            <a:ext cx="1240374" cy="22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1951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53442" y="4511088"/>
            <a:ext cx="2394814" cy="970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002" spc="-54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Modular Topics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53442" y="5633866"/>
            <a:ext cx="2394814" cy="2145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Questions categorized by subject area and specific learning topics.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1072555" y="3797637"/>
            <a:ext cx="2928328" cy="5582288"/>
            <a:chOff x="0" y="0"/>
            <a:chExt cx="3904437" cy="744305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904488" cy="7443089"/>
            </a:xfrm>
            <a:custGeom>
              <a:avLst/>
              <a:gdLst/>
              <a:ahLst/>
              <a:cxnLst/>
              <a:rect l="l" t="t" r="r" b="b"/>
              <a:pathLst>
                <a:path w="3904488" h="7443089">
                  <a:moveTo>
                    <a:pt x="0" y="0"/>
                  </a:moveTo>
                  <a:lnTo>
                    <a:pt x="3904488" y="0"/>
                  </a:lnTo>
                  <a:lnTo>
                    <a:pt x="3904488" y="7443089"/>
                  </a:lnTo>
                  <a:lnTo>
                    <a:pt x="0" y="7443089"/>
                  </a:lnTo>
                  <a:close/>
                </a:path>
              </a:pathLst>
            </a:custGeom>
            <a:solidFill>
              <a:srgbClr val="2C4C7C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1072555" y="3797637"/>
            <a:ext cx="2928328" cy="57198"/>
            <a:chOff x="0" y="0"/>
            <a:chExt cx="3904437" cy="7626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904488" cy="76200"/>
            </a:xfrm>
            <a:custGeom>
              <a:avLst/>
              <a:gdLst/>
              <a:ahLst/>
              <a:cxnLst/>
              <a:rect l="l" t="t" r="r" b="b"/>
              <a:pathLst>
                <a:path w="3904488" h="76200">
                  <a:moveTo>
                    <a:pt x="0" y="0"/>
                  </a:moveTo>
                  <a:lnTo>
                    <a:pt x="3904488" y="0"/>
                  </a:lnTo>
                  <a:lnTo>
                    <a:pt x="390448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C4C7C"/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11339455" y="4188447"/>
            <a:ext cx="1247823" cy="22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195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339455" y="4511088"/>
            <a:ext cx="2394518" cy="970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002" spc="-5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Instant Feedback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339455" y="5633866"/>
            <a:ext cx="2394518" cy="2565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32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Immediate correction and guidance displayed directly after every answer.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4458274" y="3797637"/>
            <a:ext cx="2928471" cy="5582288"/>
            <a:chOff x="0" y="0"/>
            <a:chExt cx="3904628" cy="744305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904615" cy="7443089"/>
            </a:xfrm>
            <a:custGeom>
              <a:avLst/>
              <a:gdLst/>
              <a:ahLst/>
              <a:cxnLst/>
              <a:rect l="l" t="t" r="r" b="b"/>
              <a:pathLst>
                <a:path w="3904615" h="7443089">
                  <a:moveTo>
                    <a:pt x="0" y="0"/>
                  </a:moveTo>
                  <a:lnTo>
                    <a:pt x="3904615" y="0"/>
                  </a:lnTo>
                  <a:lnTo>
                    <a:pt x="3904615" y="7443089"/>
                  </a:lnTo>
                  <a:lnTo>
                    <a:pt x="0" y="744308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4458274" y="3797637"/>
            <a:ext cx="2928471" cy="57198"/>
            <a:chOff x="0" y="0"/>
            <a:chExt cx="3904628" cy="7626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904615" cy="76200"/>
            </a:xfrm>
            <a:custGeom>
              <a:avLst/>
              <a:gdLst/>
              <a:ahLst/>
              <a:cxnLst/>
              <a:rect l="l" t="t" r="r" b="b"/>
              <a:pathLst>
                <a:path w="3904615" h="76200">
                  <a:moveTo>
                    <a:pt x="0" y="0"/>
                  </a:moveTo>
                  <a:lnTo>
                    <a:pt x="3904615" y="0"/>
                  </a:lnTo>
                  <a:lnTo>
                    <a:pt x="390461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C4C7C"/>
            </a:solidFill>
          </p:spPr>
        </p:sp>
      </p:grpSp>
      <p:sp>
        <p:nvSpPr>
          <p:cNvPr id="43" name="TextBox 43"/>
          <p:cNvSpPr txBox="1"/>
          <p:nvPr/>
        </p:nvSpPr>
        <p:spPr>
          <a:xfrm>
            <a:off x="14725174" y="4188447"/>
            <a:ext cx="1234421" cy="22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3"/>
              </a:lnSpc>
            </a:pPr>
            <a:r>
              <a:rPr lang="en-US" sz="1951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725174" y="4511088"/>
            <a:ext cx="2394671" cy="970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002" spc="-54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Higher Engagement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725174" y="5633866"/>
            <a:ext cx="2394671" cy="2565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Reinforces student retention while keeping evaluation enjoyable and fast.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CDCD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EE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5095" y="915114"/>
            <a:ext cx="17386744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2C4C7C"/>
                </a:solidFill>
                <a:latin typeface="Inter Bold"/>
                <a:ea typeface="Inter Bold"/>
                <a:cs typeface="Inter Bold"/>
                <a:sym typeface="Inter Bold"/>
              </a:rPr>
              <a:t>CURRENT CHALLENGES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5095" y="1470527"/>
            <a:ext cx="2058962" cy="47511"/>
            <a:chOff x="0" y="0"/>
            <a:chExt cx="2745283" cy="633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45232" cy="63247"/>
            </a:xfrm>
            <a:custGeom>
              <a:avLst/>
              <a:gdLst/>
              <a:ahLst/>
              <a:cxnLst/>
              <a:rect l="l" t="t" r="r" b="b"/>
              <a:pathLst>
                <a:path w="2745232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713609" y="0"/>
                  </a:lnTo>
                  <a:cubicBezTo>
                    <a:pt x="2731135" y="0"/>
                    <a:pt x="2745232" y="14224"/>
                    <a:pt x="2745232" y="31623"/>
                  </a:cubicBezTo>
                  <a:cubicBezTo>
                    <a:pt x="2745232" y="49149"/>
                    <a:pt x="2731008" y="63246"/>
                    <a:pt x="2713609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C4C7C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915095" y="2118693"/>
            <a:ext cx="16471659" cy="6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8"/>
              </a:lnSpc>
            </a:pPr>
            <a:r>
              <a:rPr lang="en-US" sz="4803" b="1" spc="-87">
                <a:solidFill>
                  <a:srgbClr val="1A1A1A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PROBLEM STATEMENT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5095" y="3378032"/>
            <a:ext cx="9997354" cy="455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602" b="1" spc="-64">
                <a:solidFill>
                  <a:srgbClr val="1A1A1A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THE PROBLEM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5095" y="4062794"/>
            <a:ext cx="9997354" cy="2431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1423" lvl="1" indent="-210712" algn="l">
              <a:lnSpc>
                <a:spcPts val="3294"/>
              </a:lnSpc>
              <a:buFont typeface="Arial"/>
              <a:buChar char="•"/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Traditional learning methods become repetitive</a:t>
            </a:r>
          </a:p>
          <a:p>
            <a:pPr marL="421423" lvl="1" indent="-210712" algn="l">
              <a:lnSpc>
                <a:spcPts val="3294"/>
              </a:lnSpc>
              <a:buFont typeface="Arial"/>
              <a:buChar char="•"/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Students lose interest in normal question-answer sessions</a:t>
            </a:r>
          </a:p>
          <a:p>
            <a:pPr marL="421423" lvl="1" indent="-210712" algn="l">
              <a:lnSpc>
                <a:spcPts val="3294"/>
              </a:lnSpc>
              <a:buFont typeface="Arial"/>
              <a:buChar char="•"/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Manual quiz evaluation takes extra time</a:t>
            </a:r>
          </a:p>
          <a:p>
            <a:pPr marL="421423" lvl="1" indent="-210712" algn="l">
              <a:lnSpc>
                <a:spcPts val="3294"/>
              </a:lnSpc>
              <a:buFont typeface="Arial"/>
              <a:buChar char="•"/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Immediate feedback is often unavailable</a:t>
            </a:r>
          </a:p>
          <a:p>
            <a:pPr marL="421423" lvl="1" indent="-210712" algn="l">
              <a:lnSpc>
                <a:spcPts val="3294"/>
              </a:lnSpc>
              <a:buFont typeface="Arial"/>
              <a:buChar char="•"/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Tracking quiz performance is difficult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598612" y="2996765"/>
            <a:ext cx="5788133" cy="3840680"/>
            <a:chOff x="0" y="0"/>
            <a:chExt cx="7717511" cy="512090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717536" cy="5120894"/>
            </a:xfrm>
            <a:custGeom>
              <a:avLst/>
              <a:gdLst/>
              <a:ahLst/>
              <a:cxnLst/>
              <a:rect l="l" t="t" r="r" b="b"/>
              <a:pathLst>
                <a:path w="7717536" h="5120894">
                  <a:moveTo>
                    <a:pt x="0" y="0"/>
                  </a:moveTo>
                  <a:lnTo>
                    <a:pt x="7717536" y="0"/>
                  </a:lnTo>
                  <a:lnTo>
                    <a:pt x="7717536" y="5120894"/>
                  </a:lnTo>
                  <a:lnTo>
                    <a:pt x="0" y="51208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12056154" y="4067975"/>
            <a:ext cx="5330590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PROJECT NEED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056154" y="4537596"/>
            <a:ext cx="4872895" cy="47511"/>
            <a:chOff x="0" y="0"/>
            <a:chExt cx="6497193" cy="6334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97193" cy="63247"/>
            </a:xfrm>
            <a:custGeom>
              <a:avLst/>
              <a:gdLst/>
              <a:ahLst/>
              <a:cxnLst/>
              <a:rect l="l" t="t" r="r" b="b"/>
              <a:pathLst>
                <a:path w="6497193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6465570" y="0"/>
                  </a:lnTo>
                  <a:cubicBezTo>
                    <a:pt x="6483096" y="0"/>
                    <a:pt x="6497193" y="14224"/>
                    <a:pt x="6497193" y="31623"/>
                  </a:cubicBezTo>
                  <a:cubicBezTo>
                    <a:pt x="6497193" y="49149"/>
                    <a:pt x="6482969" y="63246"/>
                    <a:pt x="6465570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C4C7C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2056154" y="4761652"/>
            <a:ext cx="4873047" cy="100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2627" i="1">
                <a:solidFill>
                  <a:srgbClr val="1A1A1A"/>
                </a:solidFill>
                <a:latin typeface="Inter Italics"/>
                <a:ea typeface="Inter Italics"/>
                <a:cs typeface="Inter Italics"/>
                <a:sym typeface="Inter Italics"/>
              </a:rPr>
              <a:t>Need: a simple, interactive and automated quiz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CDCD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EE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5095" y="915114"/>
            <a:ext cx="17386744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2C4C7C"/>
                </a:solidFill>
                <a:latin typeface="Inter Bold"/>
                <a:ea typeface="Inter Bold"/>
                <a:cs typeface="Inter Bold"/>
                <a:sym typeface="Inter Bold"/>
              </a:rPr>
              <a:t>PROPOSED ARCHITECTURE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5095" y="1470527"/>
            <a:ext cx="2058962" cy="47511"/>
            <a:chOff x="0" y="0"/>
            <a:chExt cx="2745283" cy="633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45232" cy="63247"/>
            </a:xfrm>
            <a:custGeom>
              <a:avLst/>
              <a:gdLst/>
              <a:ahLst/>
              <a:cxnLst/>
              <a:rect l="l" t="t" r="r" b="b"/>
              <a:pathLst>
                <a:path w="2745232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713609" y="0"/>
                  </a:lnTo>
                  <a:cubicBezTo>
                    <a:pt x="2731135" y="0"/>
                    <a:pt x="2745232" y="14224"/>
                    <a:pt x="2745232" y="31623"/>
                  </a:cubicBezTo>
                  <a:cubicBezTo>
                    <a:pt x="2745232" y="49149"/>
                    <a:pt x="2731008" y="63246"/>
                    <a:pt x="2713609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C4C7C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915095" y="2118693"/>
            <a:ext cx="16471659" cy="6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8"/>
              </a:lnSpc>
            </a:pPr>
            <a:r>
              <a:rPr lang="en-US" sz="4803" b="1" spc="-87">
                <a:solidFill>
                  <a:srgbClr val="1A1A1A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SOLUTION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5095" y="2949140"/>
            <a:ext cx="17386744" cy="46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An automated digital environment built to deliver questions and assess answers seamlessly.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15095" y="3721379"/>
            <a:ext cx="2928328" cy="2730894"/>
            <a:chOff x="0" y="0"/>
            <a:chExt cx="3904437" cy="36411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904488" cy="3641217"/>
            </a:xfrm>
            <a:custGeom>
              <a:avLst/>
              <a:gdLst/>
              <a:ahLst/>
              <a:cxnLst/>
              <a:rect l="l" t="t" r="r" b="b"/>
              <a:pathLst>
                <a:path w="3904488" h="3641217">
                  <a:moveTo>
                    <a:pt x="0" y="0"/>
                  </a:moveTo>
                  <a:lnTo>
                    <a:pt x="3904488" y="0"/>
                  </a:lnTo>
                  <a:lnTo>
                    <a:pt x="3904488" y="3641217"/>
                  </a:lnTo>
                  <a:lnTo>
                    <a:pt x="0" y="364121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143867" y="3988289"/>
            <a:ext cx="2699547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3867" y="4314939"/>
            <a:ext cx="2470775" cy="439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627" spc="-4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Topic Selection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867" y="4925911"/>
            <a:ext cx="2470775" cy="839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576" b="1" spc="15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Users pick a subject module from a configured category list.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300814" y="3721379"/>
            <a:ext cx="2928328" cy="2730894"/>
            <a:chOff x="0" y="0"/>
            <a:chExt cx="3904437" cy="364119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904488" cy="3641217"/>
            </a:xfrm>
            <a:custGeom>
              <a:avLst/>
              <a:gdLst/>
              <a:ahLst/>
              <a:cxnLst/>
              <a:rect l="l" t="t" r="r" b="b"/>
              <a:pathLst>
                <a:path w="3904488" h="3641217">
                  <a:moveTo>
                    <a:pt x="0" y="0"/>
                  </a:moveTo>
                  <a:lnTo>
                    <a:pt x="3904488" y="0"/>
                  </a:lnTo>
                  <a:lnTo>
                    <a:pt x="3904488" y="3641217"/>
                  </a:lnTo>
                  <a:lnTo>
                    <a:pt x="0" y="364121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4529585" y="3988289"/>
            <a:ext cx="2699547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29585" y="4314939"/>
            <a:ext cx="2470775" cy="859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627" spc="-4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Interactive Display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29585" y="5346240"/>
            <a:ext cx="2470775" cy="839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576" b="1" spc="15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Multiple choice questions rendered with distinct options.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686532" y="3721379"/>
            <a:ext cx="2928623" cy="2730894"/>
            <a:chOff x="0" y="0"/>
            <a:chExt cx="3904831" cy="364119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904869" cy="3641217"/>
            </a:xfrm>
            <a:custGeom>
              <a:avLst/>
              <a:gdLst/>
              <a:ahLst/>
              <a:cxnLst/>
              <a:rect l="l" t="t" r="r" b="b"/>
              <a:pathLst>
                <a:path w="3904869" h="3641217">
                  <a:moveTo>
                    <a:pt x="0" y="0"/>
                  </a:moveTo>
                  <a:lnTo>
                    <a:pt x="3904869" y="0"/>
                  </a:lnTo>
                  <a:lnTo>
                    <a:pt x="3904869" y="3641217"/>
                  </a:lnTo>
                  <a:lnTo>
                    <a:pt x="0" y="364121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7915304" y="3988289"/>
            <a:ext cx="2699852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15304" y="4314939"/>
            <a:ext cx="2471080" cy="439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627" spc="-4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Instant Submit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15304" y="4925911"/>
            <a:ext cx="2471080" cy="839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576" b="1" spc="15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Direct response capture via responsive interface buttons.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1072555" y="3721379"/>
            <a:ext cx="2928328" cy="2730894"/>
            <a:chOff x="0" y="0"/>
            <a:chExt cx="3904437" cy="364119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904488" cy="3641217"/>
            </a:xfrm>
            <a:custGeom>
              <a:avLst/>
              <a:gdLst/>
              <a:ahLst/>
              <a:cxnLst/>
              <a:rect l="l" t="t" r="r" b="b"/>
              <a:pathLst>
                <a:path w="3904488" h="3641217">
                  <a:moveTo>
                    <a:pt x="0" y="0"/>
                  </a:moveTo>
                  <a:lnTo>
                    <a:pt x="3904488" y="0"/>
                  </a:lnTo>
                  <a:lnTo>
                    <a:pt x="3904488" y="3641217"/>
                  </a:lnTo>
                  <a:lnTo>
                    <a:pt x="0" y="364121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1301327" y="3988289"/>
            <a:ext cx="2699547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301327" y="4314939"/>
            <a:ext cx="2470775" cy="859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627" spc="-4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Immediate Feedback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301327" y="5346240"/>
            <a:ext cx="2470775" cy="839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576" b="1" spc="15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Real-time validation flags correctness on screen.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4458274" y="3721379"/>
            <a:ext cx="2928471" cy="2730894"/>
            <a:chOff x="0" y="0"/>
            <a:chExt cx="3904628" cy="364119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904615" cy="3641217"/>
            </a:xfrm>
            <a:custGeom>
              <a:avLst/>
              <a:gdLst/>
              <a:ahLst/>
              <a:cxnLst/>
              <a:rect l="l" t="t" r="r" b="b"/>
              <a:pathLst>
                <a:path w="3904615" h="3641217">
                  <a:moveTo>
                    <a:pt x="0" y="0"/>
                  </a:moveTo>
                  <a:lnTo>
                    <a:pt x="3904615" y="0"/>
                  </a:lnTo>
                  <a:lnTo>
                    <a:pt x="3904615" y="3641217"/>
                  </a:lnTo>
                  <a:lnTo>
                    <a:pt x="0" y="3641217"/>
                  </a:lnTo>
                  <a:close/>
                </a:path>
              </a:pathLst>
            </a:custGeom>
            <a:solidFill>
              <a:srgbClr val="2C4C7C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14687045" y="3988289"/>
            <a:ext cx="2699699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687045" y="4314939"/>
            <a:ext cx="2470928" cy="859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627" spc="-4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Automated Score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687045" y="5346240"/>
            <a:ext cx="2470928" cy="839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576" b="1" spc="15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Cumulative score tallied dynamically upon completion.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15095" y="6909835"/>
            <a:ext cx="17386744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2C4C7C"/>
                </a:solidFill>
                <a:latin typeface="Inter Bold"/>
                <a:ea typeface="Inter Bold"/>
                <a:cs typeface="Inter Bold"/>
                <a:sym typeface="Inter Bold"/>
              </a:rPr>
              <a:t>PROCESSING FLOW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15095" y="7393753"/>
            <a:ext cx="2196132" cy="972312"/>
            <a:chOff x="0" y="0"/>
            <a:chExt cx="2928176" cy="129641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928239" cy="1296416"/>
            </a:xfrm>
            <a:custGeom>
              <a:avLst/>
              <a:gdLst/>
              <a:ahLst/>
              <a:cxnLst/>
              <a:rect l="l" t="t" r="r" b="b"/>
              <a:pathLst>
                <a:path w="2928239" h="1296416">
                  <a:moveTo>
                    <a:pt x="0" y="0"/>
                  </a:moveTo>
                  <a:lnTo>
                    <a:pt x="2928239" y="0"/>
                  </a:lnTo>
                  <a:lnTo>
                    <a:pt x="2928239" y="1296416"/>
                  </a:lnTo>
                  <a:lnTo>
                    <a:pt x="0" y="12964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9" name="TextBox 39"/>
          <p:cNvSpPr txBox="1"/>
          <p:nvPr/>
        </p:nvSpPr>
        <p:spPr>
          <a:xfrm>
            <a:off x="1247975" y="7536780"/>
            <a:ext cx="1863252" cy="46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QUESTION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3242739" y="7736919"/>
            <a:ext cx="285969" cy="285969"/>
            <a:chOff x="0" y="0"/>
            <a:chExt cx="381292" cy="381292"/>
          </a:xfrm>
        </p:grpSpPr>
        <p:sp>
          <p:nvSpPr>
            <p:cNvPr id="41" name="Freeform 41" descr="preencoded.png"/>
            <p:cNvSpPr/>
            <p:nvPr/>
          </p:nvSpPr>
          <p:spPr>
            <a:xfrm>
              <a:off x="0" y="0"/>
              <a:ext cx="381254" cy="381254"/>
            </a:xfrm>
            <a:custGeom>
              <a:avLst/>
              <a:gdLst/>
              <a:ahLst/>
              <a:cxnLst/>
              <a:rect l="l" t="t" r="r" b="b"/>
              <a:pathLst>
                <a:path w="381254" h="381254">
                  <a:moveTo>
                    <a:pt x="0" y="0"/>
                  </a:moveTo>
                  <a:lnTo>
                    <a:pt x="381254" y="0"/>
                  </a:lnTo>
                  <a:lnTo>
                    <a:pt x="381254" y="381254"/>
                  </a:lnTo>
                  <a:lnTo>
                    <a:pt x="0" y="38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8" b="-9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3660372" y="7393753"/>
            <a:ext cx="2196132" cy="972312"/>
            <a:chOff x="0" y="0"/>
            <a:chExt cx="2928176" cy="129641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928239" cy="1296416"/>
            </a:xfrm>
            <a:custGeom>
              <a:avLst/>
              <a:gdLst/>
              <a:ahLst/>
              <a:cxnLst/>
              <a:rect l="l" t="t" r="r" b="b"/>
              <a:pathLst>
                <a:path w="2928239" h="1296416">
                  <a:moveTo>
                    <a:pt x="0" y="0"/>
                  </a:moveTo>
                  <a:lnTo>
                    <a:pt x="2928239" y="0"/>
                  </a:lnTo>
                  <a:lnTo>
                    <a:pt x="2928239" y="1296416"/>
                  </a:lnTo>
                  <a:lnTo>
                    <a:pt x="0" y="12964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4" name="TextBox 44"/>
          <p:cNvSpPr txBox="1"/>
          <p:nvPr/>
        </p:nvSpPr>
        <p:spPr>
          <a:xfrm>
            <a:off x="4096912" y="7536780"/>
            <a:ext cx="1759582" cy="46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OPTIONS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5988015" y="7736919"/>
            <a:ext cx="285969" cy="285969"/>
            <a:chOff x="0" y="0"/>
            <a:chExt cx="381292" cy="381292"/>
          </a:xfrm>
        </p:grpSpPr>
        <p:sp>
          <p:nvSpPr>
            <p:cNvPr id="46" name="Freeform 46" descr="preencoded.png"/>
            <p:cNvSpPr/>
            <p:nvPr/>
          </p:nvSpPr>
          <p:spPr>
            <a:xfrm>
              <a:off x="0" y="0"/>
              <a:ext cx="381254" cy="381254"/>
            </a:xfrm>
            <a:custGeom>
              <a:avLst/>
              <a:gdLst/>
              <a:ahLst/>
              <a:cxnLst/>
              <a:rect l="l" t="t" r="r" b="b"/>
              <a:pathLst>
                <a:path w="381254" h="381254">
                  <a:moveTo>
                    <a:pt x="0" y="0"/>
                  </a:moveTo>
                  <a:lnTo>
                    <a:pt x="381254" y="0"/>
                  </a:lnTo>
                  <a:lnTo>
                    <a:pt x="381254" y="381254"/>
                  </a:lnTo>
                  <a:lnTo>
                    <a:pt x="0" y="38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8" b="-9"/>
              </a:stretch>
            </a:blipFill>
          </p:spPr>
        </p:sp>
      </p:grpSp>
      <p:grpSp>
        <p:nvGrpSpPr>
          <p:cNvPr id="47" name="Group 47"/>
          <p:cNvGrpSpPr/>
          <p:nvPr/>
        </p:nvGrpSpPr>
        <p:grpSpPr>
          <a:xfrm>
            <a:off x="6405648" y="7393753"/>
            <a:ext cx="2745276" cy="972312"/>
            <a:chOff x="0" y="0"/>
            <a:chExt cx="3660369" cy="129641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660394" cy="1296416"/>
            </a:xfrm>
            <a:custGeom>
              <a:avLst/>
              <a:gdLst/>
              <a:ahLst/>
              <a:cxnLst/>
              <a:rect l="l" t="t" r="r" b="b"/>
              <a:pathLst>
                <a:path w="3660394" h="1296416">
                  <a:moveTo>
                    <a:pt x="0" y="0"/>
                  </a:moveTo>
                  <a:lnTo>
                    <a:pt x="3660394" y="0"/>
                  </a:lnTo>
                  <a:lnTo>
                    <a:pt x="3660394" y="1296416"/>
                  </a:lnTo>
                  <a:lnTo>
                    <a:pt x="0" y="12964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9" name="TextBox 49"/>
          <p:cNvSpPr txBox="1"/>
          <p:nvPr/>
        </p:nvSpPr>
        <p:spPr>
          <a:xfrm>
            <a:off x="6710524" y="7536780"/>
            <a:ext cx="2440391" cy="46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USER ANSWER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9282436" y="7736919"/>
            <a:ext cx="285969" cy="285969"/>
            <a:chOff x="0" y="0"/>
            <a:chExt cx="381292" cy="381292"/>
          </a:xfrm>
        </p:grpSpPr>
        <p:sp>
          <p:nvSpPr>
            <p:cNvPr id="51" name="Freeform 51" descr="preencoded.png"/>
            <p:cNvSpPr/>
            <p:nvPr/>
          </p:nvSpPr>
          <p:spPr>
            <a:xfrm>
              <a:off x="0" y="0"/>
              <a:ext cx="381254" cy="381254"/>
            </a:xfrm>
            <a:custGeom>
              <a:avLst/>
              <a:gdLst/>
              <a:ahLst/>
              <a:cxnLst/>
              <a:rect l="l" t="t" r="r" b="b"/>
              <a:pathLst>
                <a:path w="381254" h="381254">
                  <a:moveTo>
                    <a:pt x="0" y="0"/>
                  </a:moveTo>
                  <a:lnTo>
                    <a:pt x="381254" y="0"/>
                  </a:lnTo>
                  <a:lnTo>
                    <a:pt x="381254" y="381254"/>
                  </a:lnTo>
                  <a:lnTo>
                    <a:pt x="0" y="38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8" b="-9"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9699917" y="7393753"/>
            <a:ext cx="2745276" cy="972312"/>
            <a:chOff x="0" y="0"/>
            <a:chExt cx="3660369" cy="129641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660394" cy="1296416"/>
            </a:xfrm>
            <a:custGeom>
              <a:avLst/>
              <a:gdLst/>
              <a:ahLst/>
              <a:cxnLst/>
              <a:rect l="l" t="t" r="r" b="b"/>
              <a:pathLst>
                <a:path w="3660394" h="1296416">
                  <a:moveTo>
                    <a:pt x="0" y="0"/>
                  </a:moveTo>
                  <a:lnTo>
                    <a:pt x="3660394" y="0"/>
                  </a:lnTo>
                  <a:lnTo>
                    <a:pt x="3660394" y="1296416"/>
                  </a:lnTo>
                  <a:lnTo>
                    <a:pt x="0" y="12964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4" name="TextBox 54"/>
          <p:cNvSpPr txBox="1"/>
          <p:nvPr/>
        </p:nvSpPr>
        <p:spPr>
          <a:xfrm>
            <a:off x="10205123" y="7536780"/>
            <a:ext cx="2240070" cy="46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VALIDATION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12576705" y="7736919"/>
            <a:ext cx="285969" cy="285969"/>
            <a:chOff x="0" y="0"/>
            <a:chExt cx="381292" cy="381292"/>
          </a:xfrm>
        </p:grpSpPr>
        <p:sp>
          <p:nvSpPr>
            <p:cNvPr id="56" name="Freeform 56" descr="preencoded.png"/>
            <p:cNvSpPr/>
            <p:nvPr/>
          </p:nvSpPr>
          <p:spPr>
            <a:xfrm>
              <a:off x="0" y="0"/>
              <a:ext cx="381254" cy="381254"/>
            </a:xfrm>
            <a:custGeom>
              <a:avLst/>
              <a:gdLst/>
              <a:ahLst/>
              <a:cxnLst/>
              <a:rect l="l" t="t" r="r" b="b"/>
              <a:pathLst>
                <a:path w="381254" h="381254">
                  <a:moveTo>
                    <a:pt x="0" y="0"/>
                  </a:moveTo>
                  <a:lnTo>
                    <a:pt x="381254" y="0"/>
                  </a:lnTo>
                  <a:lnTo>
                    <a:pt x="381254" y="381254"/>
                  </a:lnTo>
                  <a:lnTo>
                    <a:pt x="0" y="38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8" b="-9"/>
              </a:stretch>
            </a:blipFill>
          </p:spPr>
        </p:sp>
      </p:grpSp>
      <p:grpSp>
        <p:nvGrpSpPr>
          <p:cNvPr id="57" name="Group 57"/>
          <p:cNvGrpSpPr/>
          <p:nvPr/>
        </p:nvGrpSpPr>
        <p:grpSpPr>
          <a:xfrm>
            <a:off x="12994186" y="7393753"/>
            <a:ext cx="2196284" cy="972312"/>
            <a:chOff x="0" y="0"/>
            <a:chExt cx="2928379" cy="129641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928366" cy="1296416"/>
            </a:xfrm>
            <a:custGeom>
              <a:avLst/>
              <a:gdLst/>
              <a:ahLst/>
              <a:cxnLst/>
              <a:rect l="l" t="t" r="r" b="b"/>
              <a:pathLst>
                <a:path w="2928366" h="1296416">
                  <a:moveTo>
                    <a:pt x="0" y="0"/>
                  </a:moveTo>
                  <a:lnTo>
                    <a:pt x="2928366" y="0"/>
                  </a:lnTo>
                  <a:lnTo>
                    <a:pt x="2928366" y="1296416"/>
                  </a:lnTo>
                  <a:lnTo>
                    <a:pt x="0" y="12964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9" name="TextBox 59"/>
          <p:cNvSpPr txBox="1"/>
          <p:nvPr/>
        </p:nvSpPr>
        <p:spPr>
          <a:xfrm>
            <a:off x="13592632" y="7536780"/>
            <a:ext cx="1597838" cy="46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SCORE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15321982" y="7736919"/>
            <a:ext cx="285969" cy="285969"/>
            <a:chOff x="0" y="0"/>
            <a:chExt cx="381292" cy="381292"/>
          </a:xfrm>
        </p:grpSpPr>
        <p:sp>
          <p:nvSpPr>
            <p:cNvPr id="61" name="Freeform 61" descr="preencoded.png"/>
            <p:cNvSpPr/>
            <p:nvPr/>
          </p:nvSpPr>
          <p:spPr>
            <a:xfrm>
              <a:off x="0" y="0"/>
              <a:ext cx="381254" cy="381254"/>
            </a:xfrm>
            <a:custGeom>
              <a:avLst/>
              <a:gdLst/>
              <a:ahLst/>
              <a:cxnLst/>
              <a:rect l="l" t="t" r="r" b="b"/>
              <a:pathLst>
                <a:path w="381254" h="381254">
                  <a:moveTo>
                    <a:pt x="0" y="0"/>
                  </a:moveTo>
                  <a:lnTo>
                    <a:pt x="381254" y="0"/>
                  </a:lnTo>
                  <a:lnTo>
                    <a:pt x="381254" y="381254"/>
                  </a:lnTo>
                  <a:lnTo>
                    <a:pt x="0" y="38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8" b="-9"/>
              </a:stretch>
            </a:blipFill>
          </p:spPr>
        </p:sp>
      </p:grpSp>
      <p:grpSp>
        <p:nvGrpSpPr>
          <p:cNvPr id="62" name="Group 62"/>
          <p:cNvGrpSpPr/>
          <p:nvPr/>
        </p:nvGrpSpPr>
        <p:grpSpPr>
          <a:xfrm>
            <a:off x="15739462" y="7393753"/>
            <a:ext cx="1647282" cy="972312"/>
            <a:chOff x="0" y="0"/>
            <a:chExt cx="2196376" cy="129641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196338" cy="1296416"/>
            </a:xfrm>
            <a:custGeom>
              <a:avLst/>
              <a:gdLst/>
              <a:ahLst/>
              <a:cxnLst/>
              <a:rect l="l" t="t" r="r" b="b"/>
              <a:pathLst>
                <a:path w="2196338" h="1296416">
                  <a:moveTo>
                    <a:pt x="0" y="0"/>
                  </a:moveTo>
                  <a:lnTo>
                    <a:pt x="2196338" y="0"/>
                  </a:lnTo>
                  <a:lnTo>
                    <a:pt x="2196338" y="1296416"/>
                  </a:lnTo>
                  <a:lnTo>
                    <a:pt x="0" y="12964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4" name="TextBox 64"/>
          <p:cNvSpPr txBox="1"/>
          <p:nvPr/>
        </p:nvSpPr>
        <p:spPr>
          <a:xfrm>
            <a:off x="16009639" y="7536780"/>
            <a:ext cx="1377105" cy="46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RESULT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CDCD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-73410"/>
            <a:ext cx="18301811" cy="10295001"/>
            <a:chOff x="0" y="-97880"/>
            <a:chExt cx="24402414" cy="13726668"/>
          </a:xfrm>
        </p:grpSpPr>
        <p:sp>
          <p:nvSpPr>
            <p:cNvPr id="5" name="Freeform 5"/>
            <p:cNvSpPr/>
            <p:nvPr/>
          </p:nvSpPr>
          <p:spPr>
            <a:xfrm>
              <a:off x="0" y="-9788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EE"/>
            </a:solid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01256" y="624104"/>
            <a:ext cx="17386744" cy="195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8"/>
              </a:lnSpc>
            </a:pPr>
            <a:r>
              <a:rPr lang="en-US" sz="1351" b="1" spc="109" dirty="0">
                <a:solidFill>
                  <a:srgbClr val="2C4C7C"/>
                </a:solidFill>
                <a:latin typeface="Inter Bold"/>
                <a:ea typeface="Inter Bold"/>
                <a:cs typeface="Inter Bold"/>
                <a:sym typeface="Inter Bold"/>
              </a:rPr>
              <a:t>EXECUTION PIPELINE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01256" y="893234"/>
            <a:ext cx="2058962" cy="28594"/>
            <a:chOff x="0" y="0"/>
            <a:chExt cx="2745283" cy="381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45232" cy="38100"/>
            </a:xfrm>
            <a:custGeom>
              <a:avLst/>
              <a:gdLst/>
              <a:ahLst/>
              <a:cxnLst/>
              <a:rect l="l" t="t" r="r" b="b"/>
              <a:pathLst>
                <a:path w="2745232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726182" y="0"/>
                  </a:lnTo>
                  <a:cubicBezTo>
                    <a:pt x="2736723" y="0"/>
                    <a:pt x="2745232" y="8509"/>
                    <a:pt x="2745232" y="19050"/>
                  </a:cubicBezTo>
                  <a:cubicBezTo>
                    <a:pt x="2745232" y="29591"/>
                    <a:pt x="2736723" y="38100"/>
                    <a:pt x="272618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2C4C7C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901256" y="1334592"/>
            <a:ext cx="16485499" cy="582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sz="4203" b="1" spc="-75" dirty="0">
                <a:solidFill>
                  <a:srgbClr val="1A1A1A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HOW IT WORKS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1256" y="1955401"/>
            <a:ext cx="17400583" cy="3218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026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Step-by-step runtime execution sequence of the quiz engine.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111227" y="3052829"/>
            <a:ext cx="12079224" cy="727062"/>
            <a:chOff x="0" y="-1006628"/>
            <a:chExt cx="16105632" cy="1766215"/>
          </a:xfrm>
        </p:grpSpPr>
        <p:sp>
          <p:nvSpPr>
            <p:cNvPr id="12" name="Freeform 12"/>
            <p:cNvSpPr/>
            <p:nvPr/>
          </p:nvSpPr>
          <p:spPr>
            <a:xfrm>
              <a:off x="0" y="-1006628"/>
              <a:ext cx="16105632" cy="1766215"/>
            </a:xfrm>
            <a:custGeom>
              <a:avLst/>
              <a:gdLst/>
              <a:ahLst/>
              <a:cxnLst/>
              <a:rect l="l" t="t" r="r" b="b"/>
              <a:pathLst>
                <a:path w="16105632" h="759587">
                  <a:moveTo>
                    <a:pt x="0" y="0"/>
                  </a:moveTo>
                  <a:lnTo>
                    <a:pt x="16105632" y="0"/>
                  </a:lnTo>
                  <a:lnTo>
                    <a:pt x="16105632" y="759587"/>
                  </a:lnTo>
                  <a:lnTo>
                    <a:pt x="0" y="75958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6019800" y="3283112"/>
            <a:ext cx="6705600" cy="3218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026" b="1" dirty="0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1. Start</a:t>
            </a:r>
            <a:r>
              <a:rPr lang="en-US" sz="2026" dirty="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— Initialize system and state variables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007793" y="3818039"/>
            <a:ext cx="285969" cy="285969"/>
            <a:chOff x="0" y="0"/>
            <a:chExt cx="381292" cy="381292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381254" cy="381254"/>
            </a:xfrm>
            <a:custGeom>
              <a:avLst/>
              <a:gdLst/>
              <a:ahLst/>
              <a:cxnLst/>
              <a:rect l="l" t="t" r="r" b="b"/>
              <a:pathLst>
                <a:path w="381254" h="381254">
                  <a:moveTo>
                    <a:pt x="0" y="0"/>
                  </a:moveTo>
                  <a:lnTo>
                    <a:pt x="381254" y="0"/>
                  </a:lnTo>
                  <a:lnTo>
                    <a:pt x="381254" y="381254"/>
                  </a:lnTo>
                  <a:lnTo>
                    <a:pt x="0" y="38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8" b="-9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3111227" y="4142146"/>
            <a:ext cx="12079243" cy="569709"/>
            <a:chOff x="0" y="0"/>
            <a:chExt cx="16105657" cy="75961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105632" cy="759587"/>
            </a:xfrm>
            <a:custGeom>
              <a:avLst/>
              <a:gdLst/>
              <a:ahLst/>
              <a:cxnLst/>
              <a:rect l="l" t="t" r="r" b="b"/>
              <a:pathLst>
                <a:path w="16105632" h="759587">
                  <a:moveTo>
                    <a:pt x="0" y="0"/>
                  </a:moveTo>
                  <a:lnTo>
                    <a:pt x="16105632" y="0"/>
                  </a:lnTo>
                  <a:lnTo>
                    <a:pt x="16105632" y="759587"/>
                  </a:lnTo>
                  <a:lnTo>
                    <a:pt x="0" y="75958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5816289" y="4227957"/>
            <a:ext cx="7584215" cy="369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026" b="1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2. Select Quiz</a:t>
            </a:r>
            <a:r>
              <a:rPr lang="en-US" sz="20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— User selects preferred topic category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007793" y="4749984"/>
            <a:ext cx="285969" cy="285969"/>
            <a:chOff x="0" y="0"/>
            <a:chExt cx="381292" cy="381292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381254" cy="381254"/>
            </a:xfrm>
            <a:custGeom>
              <a:avLst/>
              <a:gdLst/>
              <a:ahLst/>
              <a:cxnLst/>
              <a:rect l="l" t="t" r="r" b="b"/>
              <a:pathLst>
                <a:path w="381254" h="381254">
                  <a:moveTo>
                    <a:pt x="0" y="0"/>
                  </a:moveTo>
                  <a:lnTo>
                    <a:pt x="381254" y="0"/>
                  </a:lnTo>
                  <a:lnTo>
                    <a:pt x="381254" y="381254"/>
                  </a:lnTo>
                  <a:lnTo>
                    <a:pt x="0" y="38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8" b="-9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3111227" y="5074091"/>
            <a:ext cx="12079243" cy="569709"/>
            <a:chOff x="0" y="0"/>
            <a:chExt cx="16105657" cy="75961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105632" cy="759587"/>
            </a:xfrm>
            <a:custGeom>
              <a:avLst/>
              <a:gdLst/>
              <a:ahLst/>
              <a:cxnLst/>
              <a:rect l="l" t="t" r="r" b="b"/>
              <a:pathLst>
                <a:path w="16105632" h="759587">
                  <a:moveTo>
                    <a:pt x="0" y="0"/>
                  </a:moveTo>
                  <a:lnTo>
                    <a:pt x="16105632" y="0"/>
                  </a:lnTo>
                  <a:lnTo>
                    <a:pt x="16105632" y="759587"/>
                  </a:lnTo>
                  <a:lnTo>
                    <a:pt x="0" y="75958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5005006" y="5159902"/>
            <a:ext cx="9206627" cy="369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026" b="1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3. Display Question</a:t>
            </a:r>
            <a:r>
              <a:rPr lang="en-US" sz="20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— Render prompt and choice options on screen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007793" y="5681939"/>
            <a:ext cx="285969" cy="285969"/>
            <a:chOff x="0" y="0"/>
            <a:chExt cx="381292" cy="381292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381254" cy="381254"/>
            </a:xfrm>
            <a:custGeom>
              <a:avLst/>
              <a:gdLst/>
              <a:ahLst/>
              <a:cxnLst/>
              <a:rect l="l" t="t" r="r" b="b"/>
              <a:pathLst>
                <a:path w="381254" h="381254">
                  <a:moveTo>
                    <a:pt x="0" y="0"/>
                  </a:moveTo>
                  <a:lnTo>
                    <a:pt x="381254" y="0"/>
                  </a:lnTo>
                  <a:lnTo>
                    <a:pt x="381254" y="381254"/>
                  </a:lnTo>
                  <a:lnTo>
                    <a:pt x="0" y="38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8" b="-9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3111227" y="6006036"/>
            <a:ext cx="12079243" cy="569709"/>
            <a:chOff x="0" y="0"/>
            <a:chExt cx="16105657" cy="75961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6105632" cy="759587"/>
            </a:xfrm>
            <a:custGeom>
              <a:avLst/>
              <a:gdLst/>
              <a:ahLst/>
              <a:cxnLst/>
              <a:rect l="l" t="t" r="r" b="b"/>
              <a:pathLst>
                <a:path w="16105632" h="759587">
                  <a:moveTo>
                    <a:pt x="0" y="0"/>
                  </a:moveTo>
                  <a:lnTo>
                    <a:pt x="16105632" y="0"/>
                  </a:lnTo>
                  <a:lnTo>
                    <a:pt x="16105632" y="759587"/>
                  </a:lnTo>
                  <a:lnTo>
                    <a:pt x="0" y="75958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6227216" y="6091857"/>
            <a:ext cx="6762207" cy="369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026" b="1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4. Select Answer</a:t>
            </a:r>
            <a:r>
              <a:rPr lang="en-US" sz="20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— User inputs selected option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007793" y="6613884"/>
            <a:ext cx="285969" cy="285969"/>
            <a:chOff x="0" y="0"/>
            <a:chExt cx="381292" cy="381292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381254" cy="381254"/>
            </a:xfrm>
            <a:custGeom>
              <a:avLst/>
              <a:gdLst/>
              <a:ahLst/>
              <a:cxnLst/>
              <a:rect l="l" t="t" r="r" b="b"/>
              <a:pathLst>
                <a:path w="381254" h="381254">
                  <a:moveTo>
                    <a:pt x="0" y="0"/>
                  </a:moveTo>
                  <a:lnTo>
                    <a:pt x="381254" y="0"/>
                  </a:lnTo>
                  <a:lnTo>
                    <a:pt x="381254" y="381254"/>
                  </a:lnTo>
                  <a:lnTo>
                    <a:pt x="0" y="38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8" b="-9"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3111227" y="6937981"/>
            <a:ext cx="12079243" cy="569709"/>
            <a:chOff x="0" y="0"/>
            <a:chExt cx="16105657" cy="75961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6105632" cy="759587"/>
            </a:xfrm>
            <a:custGeom>
              <a:avLst/>
              <a:gdLst/>
              <a:ahLst/>
              <a:cxnLst/>
              <a:rect l="l" t="t" r="r" b="b"/>
              <a:pathLst>
                <a:path w="16105632" h="759587">
                  <a:moveTo>
                    <a:pt x="0" y="0"/>
                  </a:moveTo>
                  <a:lnTo>
                    <a:pt x="16105632" y="0"/>
                  </a:lnTo>
                  <a:lnTo>
                    <a:pt x="16105632" y="759587"/>
                  </a:lnTo>
                  <a:lnTo>
                    <a:pt x="0" y="75958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5447062" y="7023802"/>
            <a:ext cx="8322659" cy="369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026" b="1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5. Check Answer</a:t>
            </a:r>
            <a:r>
              <a:rPr lang="en-US" sz="20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— System compares input with correct key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007793" y="7545829"/>
            <a:ext cx="285969" cy="285969"/>
            <a:chOff x="0" y="0"/>
            <a:chExt cx="381292" cy="381292"/>
          </a:xfrm>
        </p:grpSpPr>
        <p:sp>
          <p:nvSpPr>
            <p:cNvPr id="35" name="Freeform 35" descr="preencoded.png"/>
            <p:cNvSpPr/>
            <p:nvPr/>
          </p:nvSpPr>
          <p:spPr>
            <a:xfrm>
              <a:off x="0" y="0"/>
              <a:ext cx="381254" cy="381254"/>
            </a:xfrm>
            <a:custGeom>
              <a:avLst/>
              <a:gdLst/>
              <a:ahLst/>
              <a:cxnLst/>
              <a:rect l="l" t="t" r="r" b="b"/>
              <a:pathLst>
                <a:path w="381254" h="381254">
                  <a:moveTo>
                    <a:pt x="0" y="0"/>
                  </a:moveTo>
                  <a:lnTo>
                    <a:pt x="381254" y="0"/>
                  </a:lnTo>
                  <a:lnTo>
                    <a:pt x="381254" y="381254"/>
                  </a:lnTo>
                  <a:lnTo>
                    <a:pt x="0" y="38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8" b="-9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3111227" y="7869926"/>
            <a:ext cx="12079243" cy="569709"/>
            <a:chOff x="0" y="0"/>
            <a:chExt cx="16105657" cy="75961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6105632" cy="759587"/>
            </a:xfrm>
            <a:custGeom>
              <a:avLst/>
              <a:gdLst/>
              <a:ahLst/>
              <a:cxnLst/>
              <a:rect l="l" t="t" r="r" b="b"/>
              <a:pathLst>
                <a:path w="16105632" h="759587">
                  <a:moveTo>
                    <a:pt x="0" y="0"/>
                  </a:moveTo>
                  <a:lnTo>
                    <a:pt x="16105632" y="0"/>
                  </a:lnTo>
                  <a:lnTo>
                    <a:pt x="16105632" y="759587"/>
                  </a:lnTo>
                  <a:lnTo>
                    <a:pt x="0" y="75958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8" name="TextBox 38"/>
          <p:cNvSpPr txBox="1"/>
          <p:nvPr/>
        </p:nvSpPr>
        <p:spPr>
          <a:xfrm>
            <a:off x="5243312" y="7955747"/>
            <a:ext cx="8730015" cy="369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026" b="1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6. Update Score</a:t>
            </a:r>
            <a:r>
              <a:rPr lang="en-US" sz="20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— Real-time counter increments on valid match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9007793" y="8477774"/>
            <a:ext cx="285969" cy="285969"/>
            <a:chOff x="0" y="0"/>
            <a:chExt cx="381292" cy="381292"/>
          </a:xfrm>
        </p:grpSpPr>
        <p:sp>
          <p:nvSpPr>
            <p:cNvPr id="40" name="Freeform 40" descr="preencoded.png"/>
            <p:cNvSpPr/>
            <p:nvPr/>
          </p:nvSpPr>
          <p:spPr>
            <a:xfrm>
              <a:off x="0" y="0"/>
              <a:ext cx="381254" cy="381254"/>
            </a:xfrm>
            <a:custGeom>
              <a:avLst/>
              <a:gdLst/>
              <a:ahLst/>
              <a:cxnLst/>
              <a:rect l="l" t="t" r="r" b="b"/>
              <a:pathLst>
                <a:path w="381254" h="381254">
                  <a:moveTo>
                    <a:pt x="0" y="0"/>
                  </a:moveTo>
                  <a:lnTo>
                    <a:pt x="381254" y="0"/>
                  </a:lnTo>
                  <a:lnTo>
                    <a:pt x="381254" y="381254"/>
                  </a:lnTo>
                  <a:lnTo>
                    <a:pt x="0" y="38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8" b="-9"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3111227" y="8801872"/>
            <a:ext cx="12079243" cy="569709"/>
            <a:chOff x="0" y="0"/>
            <a:chExt cx="16105657" cy="75961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6105632" cy="759587"/>
            </a:xfrm>
            <a:custGeom>
              <a:avLst/>
              <a:gdLst/>
              <a:ahLst/>
              <a:cxnLst/>
              <a:rect l="l" t="t" r="r" b="b"/>
              <a:pathLst>
                <a:path w="16105632" h="759587">
                  <a:moveTo>
                    <a:pt x="0" y="0"/>
                  </a:moveTo>
                  <a:lnTo>
                    <a:pt x="16105632" y="0"/>
                  </a:lnTo>
                  <a:lnTo>
                    <a:pt x="16105632" y="759587"/>
                  </a:lnTo>
                  <a:lnTo>
                    <a:pt x="0" y="75958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3" name="TextBox 43"/>
          <p:cNvSpPr txBox="1"/>
          <p:nvPr/>
        </p:nvSpPr>
        <p:spPr>
          <a:xfrm>
            <a:off x="5135032" y="8887692"/>
            <a:ext cx="8946575" cy="369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026" b="1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7. Next Question</a:t>
            </a:r>
            <a:r>
              <a:rPr lang="en-US" sz="20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— Advance to subsequent item or complete loop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9007793" y="9409719"/>
            <a:ext cx="285969" cy="285969"/>
            <a:chOff x="0" y="0"/>
            <a:chExt cx="381292" cy="381292"/>
          </a:xfrm>
        </p:grpSpPr>
        <p:sp>
          <p:nvSpPr>
            <p:cNvPr id="45" name="Freeform 45" descr="preencoded.png"/>
            <p:cNvSpPr/>
            <p:nvPr/>
          </p:nvSpPr>
          <p:spPr>
            <a:xfrm>
              <a:off x="0" y="0"/>
              <a:ext cx="381254" cy="381254"/>
            </a:xfrm>
            <a:custGeom>
              <a:avLst/>
              <a:gdLst/>
              <a:ahLst/>
              <a:cxnLst/>
              <a:rect l="l" t="t" r="r" b="b"/>
              <a:pathLst>
                <a:path w="381254" h="381254">
                  <a:moveTo>
                    <a:pt x="0" y="0"/>
                  </a:moveTo>
                  <a:lnTo>
                    <a:pt x="381254" y="0"/>
                  </a:lnTo>
                  <a:lnTo>
                    <a:pt x="381254" y="381254"/>
                  </a:lnTo>
                  <a:lnTo>
                    <a:pt x="0" y="38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8" b="-9"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3111227" y="9733817"/>
            <a:ext cx="12079243" cy="569709"/>
            <a:chOff x="0" y="0"/>
            <a:chExt cx="16105657" cy="75961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6105632" cy="759587"/>
            </a:xfrm>
            <a:custGeom>
              <a:avLst/>
              <a:gdLst/>
              <a:ahLst/>
              <a:cxnLst/>
              <a:rect l="l" t="t" r="r" b="b"/>
              <a:pathLst>
                <a:path w="16105632" h="759587">
                  <a:moveTo>
                    <a:pt x="0" y="0"/>
                  </a:moveTo>
                  <a:lnTo>
                    <a:pt x="16105632" y="0"/>
                  </a:lnTo>
                  <a:lnTo>
                    <a:pt x="16105632" y="759587"/>
                  </a:lnTo>
                  <a:lnTo>
                    <a:pt x="0" y="759587"/>
                  </a:lnTo>
                  <a:close/>
                </a:path>
              </a:pathLst>
            </a:custGeom>
            <a:solidFill>
              <a:srgbClr val="2C4C7C"/>
            </a:solidFill>
          </p:spPr>
        </p:sp>
      </p:grpSp>
      <p:sp>
        <p:nvSpPr>
          <p:cNvPr id="48" name="TextBox 48"/>
          <p:cNvSpPr txBox="1"/>
          <p:nvPr/>
        </p:nvSpPr>
        <p:spPr>
          <a:xfrm>
            <a:off x="5220071" y="9819637"/>
            <a:ext cx="8776630" cy="369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026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8. Final Result</a:t>
            </a:r>
            <a:r>
              <a:rPr lang="en-US" sz="202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— Compile total score and performance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CDCD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EE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5095" y="915114"/>
            <a:ext cx="17386744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2C4C7C"/>
                </a:solidFill>
                <a:latin typeface="Inter Bold"/>
                <a:ea typeface="Inter Bold"/>
                <a:cs typeface="Inter Bold"/>
                <a:sym typeface="Inter Bold"/>
              </a:rPr>
              <a:t>IMPLEMENTATION STACK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5095" y="1470527"/>
            <a:ext cx="2058962" cy="47511"/>
            <a:chOff x="0" y="0"/>
            <a:chExt cx="2745283" cy="633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45232" cy="63247"/>
            </a:xfrm>
            <a:custGeom>
              <a:avLst/>
              <a:gdLst/>
              <a:ahLst/>
              <a:cxnLst/>
              <a:rect l="l" t="t" r="r" b="b"/>
              <a:pathLst>
                <a:path w="2745232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713609" y="0"/>
                  </a:lnTo>
                  <a:cubicBezTo>
                    <a:pt x="2731135" y="0"/>
                    <a:pt x="2745232" y="14224"/>
                    <a:pt x="2745232" y="31623"/>
                  </a:cubicBezTo>
                  <a:cubicBezTo>
                    <a:pt x="2745232" y="49149"/>
                    <a:pt x="2731008" y="63246"/>
                    <a:pt x="2713609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C4C7C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915095" y="2118693"/>
            <a:ext cx="16471659" cy="6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8"/>
              </a:lnSpc>
            </a:pPr>
            <a:r>
              <a:rPr lang="en-US" sz="4803" b="1" spc="-87">
                <a:solidFill>
                  <a:srgbClr val="1A1A1A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TECHNOLOGY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5095" y="2949140"/>
            <a:ext cx="17386744" cy="46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Technology and its purpose, each item paired with an arrow to its role: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915092" y="3645118"/>
          <a:ext cx="16433939" cy="4804353"/>
        </p:xfrm>
        <a:graphic>
          <a:graphicData uri="http://schemas.openxmlformats.org/drawingml/2006/table">
            <a:tbl>
              <a:tblPr/>
              <a:tblGrid>
                <a:gridCol w="4607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3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82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2223">
                <a:tc>
                  <a:txBody>
                    <a:bodyPr/>
                    <a:lstStyle/>
                    <a:p>
                      <a:pPr algn="l">
                        <a:lnSpc>
                          <a:spcPts val="3152"/>
                        </a:lnSpc>
                        <a:defRPr/>
                      </a:pPr>
                      <a:r>
                        <a:rPr lang="en-US" sz="2627" spc="-46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Python</a:t>
                      </a:r>
                      <a:endParaRPr lang="en-US" sz="1100"/>
                    </a:p>
                  </a:txBody>
                  <a:tcPr marL="147634" marR="147634" marT="147634" marB="147634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7634" marR="147634" marT="147634" marB="147634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2"/>
                        </a:lnSpc>
                        <a:defRPr/>
                      </a:pPr>
                      <a:r>
                        <a:rPr lang="en-US" sz="2326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Core Development</a:t>
                      </a:r>
                      <a:endParaRPr lang="en-US" sz="1100"/>
                    </a:p>
                  </a:txBody>
                  <a:tcPr marL="147634" marR="147634" marT="147634" marB="147634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2223">
                <a:tc>
                  <a:txBody>
                    <a:bodyPr/>
                    <a:lstStyle/>
                    <a:p>
                      <a:pPr algn="l">
                        <a:lnSpc>
                          <a:spcPts val="3152"/>
                        </a:lnSpc>
                        <a:defRPr/>
                      </a:pPr>
                      <a:r>
                        <a:rPr lang="en-US" sz="2627" spc="-46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Quiz Logic</a:t>
                      </a:r>
                      <a:endParaRPr lang="en-US" sz="1100"/>
                    </a:p>
                  </a:txBody>
                  <a:tcPr marL="147634" marR="147634" marT="147634" marB="147634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7634" marR="147634" marT="147634" marB="147634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2"/>
                        </a:lnSpc>
                        <a:defRPr/>
                      </a:pPr>
                      <a:r>
                        <a:rPr lang="en-US" sz="2326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Question and Answer Processing</a:t>
                      </a:r>
                      <a:endParaRPr lang="en-US" sz="1100"/>
                    </a:p>
                  </a:txBody>
                  <a:tcPr marL="147634" marR="147634" marT="147634" marB="147634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2223">
                <a:tc>
                  <a:txBody>
                    <a:bodyPr/>
                    <a:lstStyle/>
                    <a:p>
                      <a:pPr algn="l">
                        <a:lnSpc>
                          <a:spcPts val="3152"/>
                        </a:lnSpc>
                        <a:defRPr/>
                      </a:pPr>
                      <a:r>
                        <a:rPr lang="en-US" sz="2627" spc="-46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GUI / User Interface</a:t>
                      </a:r>
                      <a:endParaRPr lang="en-US" sz="1100"/>
                    </a:p>
                  </a:txBody>
                  <a:tcPr marL="147634" marR="147634" marT="147634" marB="147634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7634" marR="147634" marT="147634" marB="147634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2"/>
                        </a:lnSpc>
                        <a:defRPr/>
                      </a:pPr>
                      <a:r>
                        <a:rPr lang="en-US" sz="2326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Interactive User Experience</a:t>
                      </a:r>
                      <a:endParaRPr lang="en-US" sz="1100"/>
                    </a:p>
                  </a:txBody>
                  <a:tcPr marL="147634" marR="147634" marT="147634" marB="147634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2223">
                <a:tc>
                  <a:txBody>
                    <a:bodyPr/>
                    <a:lstStyle/>
                    <a:p>
                      <a:pPr algn="l">
                        <a:lnSpc>
                          <a:spcPts val="3152"/>
                        </a:lnSpc>
                        <a:defRPr/>
                      </a:pPr>
                      <a:r>
                        <a:rPr lang="en-US" sz="2627" spc="-46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Database / Data Storage</a:t>
                      </a:r>
                      <a:endParaRPr lang="en-US" sz="1100"/>
                    </a:p>
                  </a:txBody>
                  <a:tcPr marL="147634" marR="147634" marT="147634" marB="147634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7634" marR="147634" marT="147634" marB="147634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2"/>
                        </a:lnSpc>
                        <a:defRPr/>
                      </a:pPr>
                      <a:r>
                        <a:rPr lang="en-US" sz="2326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Store Questions and Results</a:t>
                      </a:r>
                      <a:endParaRPr lang="en-US" sz="1100"/>
                    </a:p>
                  </a:txBody>
                  <a:tcPr marL="147634" marR="147634" marT="147634" marB="147634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2223">
                <a:tc>
                  <a:txBody>
                    <a:bodyPr/>
                    <a:lstStyle/>
                    <a:p>
                      <a:pPr algn="l">
                        <a:lnSpc>
                          <a:spcPts val="3152"/>
                        </a:lnSpc>
                        <a:defRPr/>
                      </a:pPr>
                      <a:r>
                        <a:rPr lang="en-US" sz="2627" spc="-46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Conditional Statements</a:t>
                      </a:r>
                      <a:endParaRPr lang="en-US" sz="1100"/>
                    </a:p>
                  </a:txBody>
                  <a:tcPr marL="147634" marR="147634" marT="147634" marB="147634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7634" marR="147634" marT="147634" marB="147634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2"/>
                        </a:lnSpc>
                        <a:defRPr/>
                      </a:pPr>
                      <a:r>
                        <a:rPr lang="en-US" sz="2326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Answer Validation</a:t>
                      </a:r>
                      <a:endParaRPr lang="en-US" sz="1100"/>
                    </a:p>
                  </a:txBody>
                  <a:tcPr marL="147634" marR="147634" marT="147634" marB="147634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3236">
                <a:tc>
                  <a:txBody>
                    <a:bodyPr/>
                    <a:lstStyle/>
                    <a:p>
                      <a:pPr algn="l">
                        <a:lnSpc>
                          <a:spcPts val="3152"/>
                        </a:lnSpc>
                        <a:defRPr/>
                      </a:pPr>
                      <a:r>
                        <a:rPr lang="en-US" sz="2627" spc="-46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Functions</a:t>
                      </a:r>
                      <a:endParaRPr lang="en-US" sz="1100"/>
                    </a:p>
                  </a:txBody>
                  <a:tcPr marL="147634" marR="147634" marT="147634" marB="147634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47634" marR="147634" marT="147634" marB="147634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2"/>
                        </a:lnSpc>
                        <a:defRPr/>
                      </a:pPr>
                      <a:r>
                        <a:rPr lang="en-US" sz="2326">
                          <a:solidFill>
                            <a:srgbClr val="1A1A1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Modular Program Structure</a:t>
                      </a:r>
                      <a:endParaRPr lang="en-US" sz="1100"/>
                    </a:p>
                  </a:txBody>
                  <a:tcPr marL="147634" marR="147634" marT="147634" marB="147634" anchor="ctr">
                    <a:lnL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2" name="Group 12"/>
          <p:cNvGrpSpPr/>
          <p:nvPr/>
        </p:nvGrpSpPr>
        <p:grpSpPr>
          <a:xfrm>
            <a:off x="5748671" y="3984269"/>
            <a:ext cx="285969" cy="285969"/>
            <a:chOff x="0" y="0"/>
            <a:chExt cx="381292" cy="381292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381254" cy="381254"/>
            </a:xfrm>
            <a:custGeom>
              <a:avLst/>
              <a:gdLst/>
              <a:ahLst/>
              <a:cxnLst/>
              <a:rect l="l" t="t" r="r" b="b"/>
              <a:pathLst>
                <a:path w="381254" h="381254">
                  <a:moveTo>
                    <a:pt x="0" y="0"/>
                  </a:moveTo>
                  <a:lnTo>
                    <a:pt x="381254" y="0"/>
                  </a:lnTo>
                  <a:lnTo>
                    <a:pt x="381254" y="381254"/>
                  </a:lnTo>
                  <a:lnTo>
                    <a:pt x="0" y="38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8" b="-9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5748671" y="4797057"/>
            <a:ext cx="285969" cy="285969"/>
            <a:chOff x="0" y="0"/>
            <a:chExt cx="381292" cy="381292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381254" cy="381254"/>
            </a:xfrm>
            <a:custGeom>
              <a:avLst/>
              <a:gdLst/>
              <a:ahLst/>
              <a:cxnLst/>
              <a:rect l="l" t="t" r="r" b="b"/>
              <a:pathLst>
                <a:path w="381254" h="381254">
                  <a:moveTo>
                    <a:pt x="0" y="0"/>
                  </a:moveTo>
                  <a:lnTo>
                    <a:pt x="381254" y="0"/>
                  </a:lnTo>
                  <a:lnTo>
                    <a:pt x="381254" y="381254"/>
                  </a:lnTo>
                  <a:lnTo>
                    <a:pt x="0" y="38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8" b="-9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5748671" y="5609844"/>
            <a:ext cx="285969" cy="285969"/>
            <a:chOff x="0" y="0"/>
            <a:chExt cx="381292" cy="381292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381254" cy="381254"/>
            </a:xfrm>
            <a:custGeom>
              <a:avLst/>
              <a:gdLst/>
              <a:ahLst/>
              <a:cxnLst/>
              <a:rect l="l" t="t" r="r" b="b"/>
              <a:pathLst>
                <a:path w="381254" h="381254">
                  <a:moveTo>
                    <a:pt x="0" y="0"/>
                  </a:moveTo>
                  <a:lnTo>
                    <a:pt x="381254" y="0"/>
                  </a:lnTo>
                  <a:lnTo>
                    <a:pt x="381254" y="381254"/>
                  </a:lnTo>
                  <a:lnTo>
                    <a:pt x="0" y="38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8" b="-9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5748671" y="6422631"/>
            <a:ext cx="285969" cy="285969"/>
            <a:chOff x="0" y="0"/>
            <a:chExt cx="381292" cy="381292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381254" cy="381254"/>
            </a:xfrm>
            <a:custGeom>
              <a:avLst/>
              <a:gdLst/>
              <a:ahLst/>
              <a:cxnLst/>
              <a:rect l="l" t="t" r="r" b="b"/>
              <a:pathLst>
                <a:path w="381254" h="381254">
                  <a:moveTo>
                    <a:pt x="0" y="0"/>
                  </a:moveTo>
                  <a:lnTo>
                    <a:pt x="381254" y="0"/>
                  </a:lnTo>
                  <a:lnTo>
                    <a:pt x="381254" y="381254"/>
                  </a:lnTo>
                  <a:lnTo>
                    <a:pt x="0" y="38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8" b="-9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5748671" y="7235428"/>
            <a:ext cx="285969" cy="285969"/>
            <a:chOff x="0" y="0"/>
            <a:chExt cx="381292" cy="381292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381254" cy="381254"/>
            </a:xfrm>
            <a:custGeom>
              <a:avLst/>
              <a:gdLst/>
              <a:ahLst/>
              <a:cxnLst/>
              <a:rect l="l" t="t" r="r" b="b"/>
              <a:pathLst>
                <a:path w="381254" h="381254">
                  <a:moveTo>
                    <a:pt x="0" y="0"/>
                  </a:moveTo>
                  <a:lnTo>
                    <a:pt x="381254" y="0"/>
                  </a:lnTo>
                  <a:lnTo>
                    <a:pt x="381254" y="381254"/>
                  </a:lnTo>
                  <a:lnTo>
                    <a:pt x="0" y="38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8" b="-9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5748671" y="8048215"/>
            <a:ext cx="285969" cy="285969"/>
            <a:chOff x="0" y="0"/>
            <a:chExt cx="381292" cy="381292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381254" cy="381254"/>
            </a:xfrm>
            <a:custGeom>
              <a:avLst/>
              <a:gdLst/>
              <a:ahLst/>
              <a:cxnLst/>
              <a:rect l="l" t="t" r="r" b="b"/>
              <a:pathLst>
                <a:path w="381254" h="381254">
                  <a:moveTo>
                    <a:pt x="0" y="0"/>
                  </a:moveTo>
                  <a:lnTo>
                    <a:pt x="381254" y="0"/>
                  </a:lnTo>
                  <a:lnTo>
                    <a:pt x="381254" y="381254"/>
                  </a:lnTo>
                  <a:lnTo>
                    <a:pt x="0" y="38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8" b="-9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CDCD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EE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5095" y="915114"/>
            <a:ext cx="17386744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2C4C7C"/>
                </a:solidFill>
                <a:latin typeface="Inter Bold"/>
                <a:ea typeface="Inter Bold"/>
                <a:cs typeface="Inter Bold"/>
                <a:sym typeface="Inter Bold"/>
              </a:rPr>
              <a:t>ADVANCED CAPABILITIES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5095" y="1470527"/>
            <a:ext cx="2058962" cy="47511"/>
            <a:chOff x="0" y="0"/>
            <a:chExt cx="2745283" cy="633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45232" cy="63247"/>
            </a:xfrm>
            <a:custGeom>
              <a:avLst/>
              <a:gdLst/>
              <a:ahLst/>
              <a:cxnLst/>
              <a:rect l="l" t="t" r="r" b="b"/>
              <a:pathLst>
                <a:path w="2745232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713609" y="0"/>
                  </a:lnTo>
                  <a:cubicBezTo>
                    <a:pt x="2731135" y="0"/>
                    <a:pt x="2745232" y="14224"/>
                    <a:pt x="2745232" y="31623"/>
                  </a:cubicBezTo>
                  <a:cubicBezTo>
                    <a:pt x="2745232" y="49149"/>
                    <a:pt x="2731008" y="63246"/>
                    <a:pt x="2713609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C4C7C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915095" y="2118693"/>
            <a:ext cx="16471659" cy="6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8"/>
              </a:lnSpc>
            </a:pPr>
            <a:r>
              <a:rPr lang="en-US" sz="4803" b="1" spc="-87">
                <a:solidFill>
                  <a:srgbClr val="1A1A1A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FUTURES &amp; INNOVATION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5095" y="2949140"/>
            <a:ext cx="17386744" cy="46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Planned functional enhancements to improve gamification and personalization.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15095" y="3721379"/>
            <a:ext cx="4003529" cy="2714816"/>
            <a:chOff x="0" y="0"/>
            <a:chExt cx="5338039" cy="36197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38064" cy="3619754"/>
            </a:xfrm>
            <a:custGeom>
              <a:avLst/>
              <a:gdLst/>
              <a:ahLst/>
              <a:cxnLst/>
              <a:rect l="l" t="t" r="r" b="b"/>
              <a:pathLst>
                <a:path w="5338064" h="3619754">
                  <a:moveTo>
                    <a:pt x="0" y="0"/>
                  </a:moveTo>
                  <a:lnTo>
                    <a:pt x="5338064" y="0"/>
                  </a:lnTo>
                  <a:lnTo>
                    <a:pt x="5338064" y="3619754"/>
                  </a:lnTo>
                  <a:lnTo>
                    <a:pt x="0" y="361975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181995" y="4026418"/>
            <a:ext cx="590998" cy="591007"/>
            <a:chOff x="0" y="0"/>
            <a:chExt cx="787997" cy="78801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788035" cy="788035"/>
            </a:xfrm>
            <a:custGeom>
              <a:avLst/>
              <a:gdLst/>
              <a:ahLst/>
              <a:cxnLst/>
              <a:rect l="l" t="t" r="r" b="b"/>
              <a:pathLst>
                <a:path w="788035" h="788035">
                  <a:moveTo>
                    <a:pt x="0" y="0"/>
                  </a:moveTo>
                  <a:lnTo>
                    <a:pt x="788035" y="0"/>
                  </a:lnTo>
                  <a:lnTo>
                    <a:pt x="788035" y="788035"/>
                  </a:lnTo>
                  <a:lnTo>
                    <a:pt x="0" y="788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4" b="3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181995" y="4760433"/>
            <a:ext cx="3469719" cy="439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627" spc="-4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Random Generation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1995" y="5371405"/>
            <a:ext cx="3469719" cy="56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576" b="1" spc="15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Shuffles question sequences dynamically on each attempt.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147396" y="3721379"/>
            <a:ext cx="3889143" cy="2714816"/>
            <a:chOff x="0" y="0"/>
            <a:chExt cx="5185524" cy="361975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185537" cy="3619754"/>
            </a:xfrm>
            <a:custGeom>
              <a:avLst/>
              <a:gdLst/>
              <a:ahLst/>
              <a:cxnLst/>
              <a:rect l="l" t="t" r="r" b="b"/>
              <a:pathLst>
                <a:path w="5185537" h="3619754">
                  <a:moveTo>
                    <a:pt x="0" y="0"/>
                  </a:moveTo>
                  <a:lnTo>
                    <a:pt x="5185537" y="0"/>
                  </a:lnTo>
                  <a:lnTo>
                    <a:pt x="5185537" y="3619754"/>
                  </a:lnTo>
                  <a:lnTo>
                    <a:pt x="0" y="361975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5414296" y="4026418"/>
            <a:ext cx="590998" cy="591007"/>
            <a:chOff x="0" y="0"/>
            <a:chExt cx="787997" cy="788010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788035" cy="788035"/>
            </a:xfrm>
            <a:custGeom>
              <a:avLst/>
              <a:gdLst/>
              <a:ahLst/>
              <a:cxnLst/>
              <a:rect l="l" t="t" r="r" b="b"/>
              <a:pathLst>
                <a:path w="788035" h="788035">
                  <a:moveTo>
                    <a:pt x="0" y="0"/>
                  </a:moveTo>
                  <a:lnTo>
                    <a:pt x="788035" y="0"/>
                  </a:lnTo>
                  <a:lnTo>
                    <a:pt x="788035" y="788035"/>
                  </a:lnTo>
                  <a:lnTo>
                    <a:pt x="0" y="788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4" b="3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5414296" y="4760433"/>
            <a:ext cx="3355334" cy="439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627" spc="-4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Difficulty Levels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14296" y="5371405"/>
            <a:ext cx="3355334" cy="56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576" b="1" spc="15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Categorizes questions into easy, medium, and hard tiers.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265310" y="3721379"/>
            <a:ext cx="3889143" cy="2714816"/>
            <a:chOff x="0" y="0"/>
            <a:chExt cx="5185524" cy="361975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185537" cy="3619754"/>
            </a:xfrm>
            <a:custGeom>
              <a:avLst/>
              <a:gdLst/>
              <a:ahLst/>
              <a:cxnLst/>
              <a:rect l="l" t="t" r="r" b="b"/>
              <a:pathLst>
                <a:path w="5185537" h="3619754">
                  <a:moveTo>
                    <a:pt x="0" y="0"/>
                  </a:moveTo>
                  <a:lnTo>
                    <a:pt x="5185537" y="0"/>
                  </a:lnTo>
                  <a:lnTo>
                    <a:pt x="5185537" y="3619754"/>
                  </a:lnTo>
                  <a:lnTo>
                    <a:pt x="0" y="361975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9532210" y="4026418"/>
            <a:ext cx="590998" cy="591007"/>
            <a:chOff x="0" y="0"/>
            <a:chExt cx="787997" cy="788010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788035" cy="788035"/>
            </a:xfrm>
            <a:custGeom>
              <a:avLst/>
              <a:gdLst/>
              <a:ahLst/>
              <a:cxnLst/>
              <a:rect l="l" t="t" r="r" b="b"/>
              <a:pathLst>
                <a:path w="788035" h="788035">
                  <a:moveTo>
                    <a:pt x="0" y="0"/>
                  </a:moveTo>
                  <a:lnTo>
                    <a:pt x="788035" y="0"/>
                  </a:lnTo>
                  <a:lnTo>
                    <a:pt x="788035" y="788035"/>
                  </a:lnTo>
                  <a:lnTo>
                    <a:pt x="0" y="788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r="4" b="3"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9532210" y="4760433"/>
            <a:ext cx="3355334" cy="439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627" spc="-4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Timer Quizzes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532210" y="5371405"/>
            <a:ext cx="3355334" cy="56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576" b="1" spc="15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Countdown limits per question to test response speed.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3383225" y="3721379"/>
            <a:ext cx="4003529" cy="2714816"/>
            <a:chOff x="0" y="0"/>
            <a:chExt cx="5338039" cy="361975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338064" cy="3619754"/>
            </a:xfrm>
            <a:custGeom>
              <a:avLst/>
              <a:gdLst/>
              <a:ahLst/>
              <a:cxnLst/>
              <a:rect l="l" t="t" r="r" b="b"/>
              <a:pathLst>
                <a:path w="5338064" h="3619754">
                  <a:moveTo>
                    <a:pt x="0" y="0"/>
                  </a:moveTo>
                  <a:lnTo>
                    <a:pt x="5338064" y="0"/>
                  </a:lnTo>
                  <a:lnTo>
                    <a:pt x="5338064" y="3619754"/>
                  </a:lnTo>
                  <a:lnTo>
                    <a:pt x="0" y="361975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3650125" y="4026418"/>
            <a:ext cx="590998" cy="591007"/>
            <a:chOff x="0" y="0"/>
            <a:chExt cx="787997" cy="788010"/>
          </a:xfrm>
        </p:grpSpPr>
        <p:sp>
          <p:nvSpPr>
            <p:cNvPr id="32" name="Freeform 32" descr="preencoded.png"/>
            <p:cNvSpPr/>
            <p:nvPr/>
          </p:nvSpPr>
          <p:spPr>
            <a:xfrm>
              <a:off x="0" y="0"/>
              <a:ext cx="788035" cy="788035"/>
            </a:xfrm>
            <a:custGeom>
              <a:avLst/>
              <a:gdLst/>
              <a:ahLst/>
              <a:cxnLst/>
              <a:rect l="l" t="t" r="r" b="b"/>
              <a:pathLst>
                <a:path w="788035" h="788035">
                  <a:moveTo>
                    <a:pt x="0" y="0"/>
                  </a:moveTo>
                  <a:lnTo>
                    <a:pt x="788035" y="0"/>
                  </a:lnTo>
                  <a:lnTo>
                    <a:pt x="788035" y="788035"/>
                  </a:lnTo>
                  <a:lnTo>
                    <a:pt x="0" y="788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r="4" b="3"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13650125" y="4760433"/>
            <a:ext cx="3469719" cy="439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627" spc="-4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Multi-Category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650125" y="5371405"/>
            <a:ext cx="3469719" cy="56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576" b="1" spc="15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Supports varied academic subjects and specialized domains.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15095" y="6664966"/>
            <a:ext cx="4003529" cy="2714958"/>
            <a:chOff x="0" y="0"/>
            <a:chExt cx="5338039" cy="361994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338064" cy="3620008"/>
            </a:xfrm>
            <a:custGeom>
              <a:avLst/>
              <a:gdLst/>
              <a:ahLst/>
              <a:cxnLst/>
              <a:rect l="l" t="t" r="r" b="b"/>
              <a:pathLst>
                <a:path w="5338064" h="3620008">
                  <a:moveTo>
                    <a:pt x="0" y="0"/>
                  </a:moveTo>
                  <a:lnTo>
                    <a:pt x="5338064" y="0"/>
                  </a:lnTo>
                  <a:lnTo>
                    <a:pt x="5338064" y="3620008"/>
                  </a:lnTo>
                  <a:lnTo>
                    <a:pt x="0" y="36200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181995" y="6970004"/>
            <a:ext cx="590998" cy="591007"/>
            <a:chOff x="0" y="0"/>
            <a:chExt cx="787997" cy="788010"/>
          </a:xfrm>
        </p:grpSpPr>
        <p:sp>
          <p:nvSpPr>
            <p:cNvPr id="38" name="Freeform 38" descr="preencoded.png"/>
            <p:cNvSpPr/>
            <p:nvPr/>
          </p:nvSpPr>
          <p:spPr>
            <a:xfrm>
              <a:off x="0" y="0"/>
              <a:ext cx="788035" cy="788035"/>
            </a:xfrm>
            <a:custGeom>
              <a:avLst/>
              <a:gdLst/>
              <a:ahLst/>
              <a:cxnLst/>
              <a:rect l="l" t="t" r="r" b="b"/>
              <a:pathLst>
                <a:path w="788035" h="788035">
                  <a:moveTo>
                    <a:pt x="0" y="0"/>
                  </a:moveTo>
                  <a:lnTo>
                    <a:pt x="788035" y="0"/>
                  </a:lnTo>
                  <a:lnTo>
                    <a:pt x="788035" y="788035"/>
                  </a:lnTo>
                  <a:lnTo>
                    <a:pt x="0" y="788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r="4" b="3"/>
              </a:stretch>
            </a:blipFill>
          </p:spPr>
        </p:sp>
      </p:grpSp>
      <p:sp>
        <p:nvSpPr>
          <p:cNvPr id="39" name="TextBox 39"/>
          <p:cNvSpPr txBox="1"/>
          <p:nvPr/>
        </p:nvSpPr>
        <p:spPr>
          <a:xfrm>
            <a:off x="1181995" y="7704020"/>
            <a:ext cx="3469719" cy="439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627" spc="-4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Leaderboards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81995" y="8315001"/>
            <a:ext cx="3469719" cy="56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576" b="1" spc="15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Competitive ranking showing top scores across all users.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5147396" y="6664966"/>
            <a:ext cx="3889143" cy="2714958"/>
            <a:chOff x="0" y="0"/>
            <a:chExt cx="5185524" cy="3619945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185537" cy="3620008"/>
            </a:xfrm>
            <a:custGeom>
              <a:avLst/>
              <a:gdLst/>
              <a:ahLst/>
              <a:cxnLst/>
              <a:rect l="l" t="t" r="r" b="b"/>
              <a:pathLst>
                <a:path w="5185537" h="3620008">
                  <a:moveTo>
                    <a:pt x="0" y="0"/>
                  </a:moveTo>
                  <a:lnTo>
                    <a:pt x="5185537" y="0"/>
                  </a:lnTo>
                  <a:lnTo>
                    <a:pt x="5185537" y="3620008"/>
                  </a:lnTo>
                  <a:lnTo>
                    <a:pt x="0" y="36200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5414296" y="6970004"/>
            <a:ext cx="590998" cy="591007"/>
            <a:chOff x="0" y="0"/>
            <a:chExt cx="787997" cy="788010"/>
          </a:xfrm>
        </p:grpSpPr>
        <p:sp>
          <p:nvSpPr>
            <p:cNvPr id="44" name="Freeform 44" descr="preencoded.png"/>
            <p:cNvSpPr/>
            <p:nvPr/>
          </p:nvSpPr>
          <p:spPr>
            <a:xfrm>
              <a:off x="0" y="0"/>
              <a:ext cx="788035" cy="788035"/>
            </a:xfrm>
            <a:custGeom>
              <a:avLst/>
              <a:gdLst/>
              <a:ahLst/>
              <a:cxnLst/>
              <a:rect l="l" t="t" r="r" b="b"/>
              <a:pathLst>
                <a:path w="788035" h="788035">
                  <a:moveTo>
                    <a:pt x="0" y="0"/>
                  </a:moveTo>
                  <a:lnTo>
                    <a:pt x="788035" y="0"/>
                  </a:lnTo>
                  <a:lnTo>
                    <a:pt x="788035" y="788035"/>
                  </a:lnTo>
                  <a:lnTo>
                    <a:pt x="0" y="788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r="4" b="3"/>
              </a:stretch>
            </a:blipFill>
          </p:spPr>
        </p:sp>
      </p:grpSp>
      <p:sp>
        <p:nvSpPr>
          <p:cNvPr id="45" name="TextBox 45"/>
          <p:cNvSpPr txBox="1"/>
          <p:nvPr/>
        </p:nvSpPr>
        <p:spPr>
          <a:xfrm>
            <a:off x="5414296" y="7704020"/>
            <a:ext cx="3355334" cy="439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627" spc="-4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Login &amp; Profiles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414296" y="8315001"/>
            <a:ext cx="3355334" cy="56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576" b="1" spc="15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Dedicated student accounts preserving historical records.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9265310" y="6664966"/>
            <a:ext cx="3889143" cy="2714958"/>
            <a:chOff x="0" y="0"/>
            <a:chExt cx="5185524" cy="361994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185537" cy="3620008"/>
            </a:xfrm>
            <a:custGeom>
              <a:avLst/>
              <a:gdLst/>
              <a:ahLst/>
              <a:cxnLst/>
              <a:rect l="l" t="t" r="r" b="b"/>
              <a:pathLst>
                <a:path w="5185537" h="3620008">
                  <a:moveTo>
                    <a:pt x="0" y="0"/>
                  </a:moveTo>
                  <a:lnTo>
                    <a:pt x="5185537" y="0"/>
                  </a:lnTo>
                  <a:lnTo>
                    <a:pt x="5185537" y="3620008"/>
                  </a:lnTo>
                  <a:lnTo>
                    <a:pt x="0" y="36200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9532210" y="6970004"/>
            <a:ext cx="590998" cy="591007"/>
            <a:chOff x="0" y="0"/>
            <a:chExt cx="787997" cy="788010"/>
          </a:xfrm>
        </p:grpSpPr>
        <p:sp>
          <p:nvSpPr>
            <p:cNvPr id="50" name="Freeform 50" descr="preencoded.png"/>
            <p:cNvSpPr/>
            <p:nvPr/>
          </p:nvSpPr>
          <p:spPr>
            <a:xfrm>
              <a:off x="0" y="0"/>
              <a:ext cx="788035" cy="788035"/>
            </a:xfrm>
            <a:custGeom>
              <a:avLst/>
              <a:gdLst/>
              <a:ahLst/>
              <a:cxnLst/>
              <a:rect l="l" t="t" r="r" b="b"/>
              <a:pathLst>
                <a:path w="788035" h="788035">
                  <a:moveTo>
                    <a:pt x="0" y="0"/>
                  </a:moveTo>
                  <a:lnTo>
                    <a:pt x="788035" y="0"/>
                  </a:lnTo>
                  <a:lnTo>
                    <a:pt x="788035" y="788035"/>
                  </a:lnTo>
                  <a:lnTo>
                    <a:pt x="0" y="788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" r="4" b="3"/>
              </a:stretch>
            </a:blipFill>
          </p:spPr>
        </p:sp>
      </p:grpSp>
      <p:sp>
        <p:nvSpPr>
          <p:cNvPr id="51" name="TextBox 51"/>
          <p:cNvSpPr txBox="1"/>
          <p:nvPr/>
        </p:nvSpPr>
        <p:spPr>
          <a:xfrm>
            <a:off x="9532210" y="7704020"/>
            <a:ext cx="3355334" cy="439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627" spc="-4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Badge Rewards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532210" y="8315001"/>
            <a:ext cx="3355334" cy="56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576" b="1" spc="15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Milestone achievements earned upon mastery criteria.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13383225" y="6664966"/>
            <a:ext cx="4003529" cy="2714958"/>
            <a:chOff x="0" y="0"/>
            <a:chExt cx="5338039" cy="3619945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338064" cy="3620008"/>
            </a:xfrm>
            <a:custGeom>
              <a:avLst/>
              <a:gdLst/>
              <a:ahLst/>
              <a:cxnLst/>
              <a:rect l="l" t="t" r="r" b="b"/>
              <a:pathLst>
                <a:path w="5338064" h="3620008">
                  <a:moveTo>
                    <a:pt x="0" y="0"/>
                  </a:moveTo>
                  <a:lnTo>
                    <a:pt x="5338064" y="0"/>
                  </a:lnTo>
                  <a:lnTo>
                    <a:pt x="5338064" y="3620008"/>
                  </a:lnTo>
                  <a:lnTo>
                    <a:pt x="0" y="362000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13650125" y="6970004"/>
            <a:ext cx="590998" cy="591007"/>
            <a:chOff x="0" y="0"/>
            <a:chExt cx="787997" cy="788010"/>
          </a:xfrm>
        </p:grpSpPr>
        <p:sp>
          <p:nvSpPr>
            <p:cNvPr id="56" name="Freeform 56" descr="preencoded.png"/>
            <p:cNvSpPr/>
            <p:nvPr/>
          </p:nvSpPr>
          <p:spPr>
            <a:xfrm>
              <a:off x="0" y="0"/>
              <a:ext cx="788035" cy="788035"/>
            </a:xfrm>
            <a:custGeom>
              <a:avLst/>
              <a:gdLst/>
              <a:ahLst/>
              <a:cxnLst/>
              <a:rect l="l" t="t" r="r" b="b"/>
              <a:pathLst>
                <a:path w="788035" h="788035">
                  <a:moveTo>
                    <a:pt x="0" y="0"/>
                  </a:moveTo>
                  <a:lnTo>
                    <a:pt x="788035" y="0"/>
                  </a:lnTo>
                  <a:lnTo>
                    <a:pt x="788035" y="788035"/>
                  </a:lnTo>
                  <a:lnTo>
                    <a:pt x="0" y="788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" r="4" b="3"/>
              </a:stretch>
            </a:blipFill>
          </p:spPr>
        </p:sp>
      </p:grpSp>
      <p:sp>
        <p:nvSpPr>
          <p:cNvPr id="57" name="TextBox 57"/>
          <p:cNvSpPr txBox="1"/>
          <p:nvPr/>
        </p:nvSpPr>
        <p:spPr>
          <a:xfrm>
            <a:off x="13650125" y="7704020"/>
            <a:ext cx="3469719" cy="439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627" spc="-4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Adaptive Quizzes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3650125" y="8315001"/>
            <a:ext cx="3469719" cy="56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576" b="1" spc="15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Difficulty adjusts dynamically to student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CDCD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EE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5095" y="915114"/>
            <a:ext cx="17386744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2C4C7C"/>
                </a:solidFill>
                <a:latin typeface="Inter Bold"/>
                <a:ea typeface="Inter Bold"/>
                <a:cs typeface="Inter Bold"/>
                <a:sym typeface="Inter Bold"/>
              </a:rPr>
              <a:t>STRATEGIC OUTCOMES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5095" y="1470527"/>
            <a:ext cx="2058962" cy="47511"/>
            <a:chOff x="0" y="0"/>
            <a:chExt cx="2745283" cy="633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45232" cy="63247"/>
            </a:xfrm>
            <a:custGeom>
              <a:avLst/>
              <a:gdLst/>
              <a:ahLst/>
              <a:cxnLst/>
              <a:rect l="l" t="t" r="r" b="b"/>
              <a:pathLst>
                <a:path w="2745232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713609" y="0"/>
                  </a:lnTo>
                  <a:cubicBezTo>
                    <a:pt x="2731135" y="0"/>
                    <a:pt x="2745232" y="14224"/>
                    <a:pt x="2745232" y="31623"/>
                  </a:cubicBezTo>
                  <a:cubicBezTo>
                    <a:pt x="2745232" y="49149"/>
                    <a:pt x="2731008" y="63246"/>
                    <a:pt x="2713609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C4C7C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915095" y="2118693"/>
            <a:ext cx="16471659" cy="6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8"/>
              </a:lnSpc>
            </a:pPr>
            <a:r>
              <a:rPr lang="en-US" sz="4803" b="1" spc="-87">
                <a:solidFill>
                  <a:srgbClr val="1A1A1A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IMPACT &amp; FUTURE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5095" y="2996765"/>
            <a:ext cx="8007058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2C4C7C"/>
                </a:solidFill>
                <a:latin typeface="Inter Bold"/>
                <a:ea typeface="Inter Bold"/>
                <a:cs typeface="Inter Bold"/>
                <a:sym typeface="Inter Bold"/>
              </a:rPr>
              <a:t>IMPACT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5095" y="3380565"/>
            <a:ext cx="8007058" cy="455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602" b="1" spc="-64">
                <a:solidFill>
                  <a:srgbClr val="1A1A1A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Impact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15095" y="4184447"/>
            <a:ext cx="8007058" cy="47511"/>
            <a:chOff x="0" y="0"/>
            <a:chExt cx="10676077" cy="6334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676001" cy="63247"/>
            </a:xfrm>
            <a:custGeom>
              <a:avLst/>
              <a:gdLst/>
              <a:ahLst/>
              <a:cxnLst/>
              <a:rect l="l" t="t" r="r" b="b"/>
              <a:pathLst>
                <a:path w="10676001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10644378" y="0"/>
                  </a:lnTo>
                  <a:cubicBezTo>
                    <a:pt x="10661904" y="0"/>
                    <a:pt x="10676001" y="14224"/>
                    <a:pt x="10676001" y="31623"/>
                  </a:cubicBezTo>
                  <a:cubicBezTo>
                    <a:pt x="10676001" y="49149"/>
                    <a:pt x="10661777" y="63246"/>
                    <a:pt x="10644378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C4C7C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915095" y="4418028"/>
            <a:ext cx="8007058" cy="2431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1423" lvl="1" indent="-210712" algn="l">
              <a:lnSpc>
                <a:spcPts val="3294"/>
              </a:lnSpc>
              <a:buFont typeface="Arial"/>
              <a:buChar char="•"/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Makes learning more interactive</a:t>
            </a:r>
          </a:p>
          <a:p>
            <a:pPr marL="421423" lvl="1" indent="-210712" algn="l">
              <a:lnSpc>
                <a:spcPts val="3294"/>
              </a:lnSpc>
              <a:buFont typeface="Arial"/>
              <a:buChar char="•"/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Improves student engagement</a:t>
            </a:r>
          </a:p>
          <a:p>
            <a:pPr marL="421423" lvl="1" indent="-210712" algn="l">
              <a:lnSpc>
                <a:spcPts val="3294"/>
              </a:lnSpc>
              <a:buFont typeface="Arial"/>
              <a:buChar char="•"/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Provides instant feedback</a:t>
            </a:r>
          </a:p>
          <a:p>
            <a:pPr marL="421423" lvl="1" indent="-210712" algn="l">
              <a:lnSpc>
                <a:spcPts val="3294"/>
              </a:lnSpc>
              <a:buFont typeface="Arial"/>
              <a:buChar char="•"/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Reduces manual evaluation</a:t>
            </a:r>
          </a:p>
          <a:p>
            <a:pPr marL="421423" lvl="1" indent="-210712" algn="l">
              <a:lnSpc>
                <a:spcPts val="3294"/>
              </a:lnSpc>
              <a:buFont typeface="Arial"/>
              <a:buChar char="•"/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Helps users identify their performance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79696" y="2996765"/>
            <a:ext cx="8007058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2C4C7C"/>
                </a:solidFill>
                <a:latin typeface="Inter Bold"/>
                <a:ea typeface="Inter Bold"/>
                <a:cs typeface="Inter Bold"/>
                <a:sym typeface="Inter Bold"/>
              </a:rPr>
              <a:t>FUTURE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79696" y="3380565"/>
            <a:ext cx="8007058" cy="455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1"/>
              </a:lnSpc>
            </a:pPr>
            <a:r>
              <a:rPr lang="en-US" sz="3602" b="1" spc="-64">
                <a:solidFill>
                  <a:srgbClr val="1A1A1A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Future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379696" y="4184447"/>
            <a:ext cx="8007058" cy="47511"/>
            <a:chOff x="0" y="0"/>
            <a:chExt cx="10676077" cy="633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676001" cy="63247"/>
            </a:xfrm>
            <a:custGeom>
              <a:avLst/>
              <a:gdLst/>
              <a:ahLst/>
              <a:cxnLst/>
              <a:rect l="l" t="t" r="r" b="b"/>
              <a:pathLst>
                <a:path w="10676001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10644378" y="0"/>
                  </a:lnTo>
                  <a:cubicBezTo>
                    <a:pt x="10661904" y="0"/>
                    <a:pt x="10676001" y="14224"/>
                    <a:pt x="10676001" y="31623"/>
                  </a:cubicBezTo>
                  <a:cubicBezTo>
                    <a:pt x="10676001" y="49149"/>
                    <a:pt x="10661777" y="63246"/>
                    <a:pt x="10644378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C4C7C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9379696" y="4418028"/>
            <a:ext cx="8007058" cy="292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1423" lvl="1" indent="-210712" algn="l">
              <a:lnSpc>
                <a:spcPts val="3294"/>
              </a:lnSpc>
              <a:buFont typeface="Arial"/>
              <a:buChar char="•"/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AI-based question generation</a:t>
            </a:r>
          </a:p>
          <a:p>
            <a:pPr marL="421423" lvl="1" indent="-210712" algn="l">
              <a:lnSpc>
                <a:spcPts val="3294"/>
              </a:lnSpc>
              <a:buFont typeface="Arial"/>
              <a:buChar char="•"/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Mobile application</a:t>
            </a:r>
          </a:p>
          <a:p>
            <a:pPr marL="421423" lvl="1" indent="-210712" algn="l">
              <a:lnSpc>
                <a:spcPts val="3294"/>
              </a:lnSpc>
              <a:buFont typeface="Arial"/>
              <a:buChar char="•"/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Cloud-based quiz platform</a:t>
            </a:r>
          </a:p>
          <a:p>
            <a:pPr marL="421423" lvl="1" indent="-210712" algn="l">
              <a:lnSpc>
                <a:spcPts val="3294"/>
              </a:lnSpc>
              <a:buFont typeface="Arial"/>
              <a:buChar char="•"/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Detailed performance analytics</a:t>
            </a:r>
          </a:p>
          <a:p>
            <a:pPr marL="421423" lvl="1" indent="-210712" algn="l">
              <a:lnSpc>
                <a:spcPts val="3294"/>
              </a:lnSpc>
              <a:buFont typeface="Arial"/>
              <a:buChar char="•"/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Multiplayer quiz mode</a:t>
            </a:r>
          </a:p>
          <a:p>
            <a:pPr marL="421423" lvl="1" indent="-210712" algn="l">
              <a:lnSpc>
                <a:spcPts val="3294"/>
              </a:lnSpc>
              <a:buFont typeface="Arial"/>
              <a:buChar char="•"/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Personalized learning recommendations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CDCD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EE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5095" y="915114"/>
            <a:ext cx="9654340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2C4C7C"/>
                </a:solidFill>
                <a:latin typeface="Inter Bold"/>
                <a:ea typeface="Inter Bold"/>
                <a:cs typeface="Inter Bold"/>
                <a:sym typeface="Inter Bold"/>
              </a:rPr>
              <a:t>SUMMARY &amp; FINDINGS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5095" y="1470527"/>
            <a:ext cx="1092184" cy="47511"/>
            <a:chOff x="0" y="0"/>
            <a:chExt cx="1456246" cy="633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56182" cy="63247"/>
            </a:xfrm>
            <a:custGeom>
              <a:avLst/>
              <a:gdLst/>
              <a:ahLst/>
              <a:cxnLst/>
              <a:rect l="l" t="t" r="r" b="b"/>
              <a:pathLst>
                <a:path w="1456182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1424559" y="0"/>
                  </a:lnTo>
                  <a:cubicBezTo>
                    <a:pt x="1442085" y="0"/>
                    <a:pt x="1456182" y="14224"/>
                    <a:pt x="1456182" y="31623"/>
                  </a:cubicBezTo>
                  <a:cubicBezTo>
                    <a:pt x="1456182" y="49149"/>
                    <a:pt x="1441958" y="63246"/>
                    <a:pt x="1424559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C4C7C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915095" y="2118693"/>
            <a:ext cx="8739245" cy="601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8"/>
              </a:lnSpc>
            </a:pPr>
            <a:r>
              <a:rPr lang="en-US" sz="4803" b="1" spc="-87">
                <a:solidFill>
                  <a:srgbClr val="1A1A1A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CONCLUSION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5095" y="2949140"/>
            <a:ext cx="8739245" cy="88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Interactive Quiz Project provides a simple and engaging way to conduct digital quizzes.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5095" y="4179084"/>
            <a:ext cx="9654340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2C4C7C"/>
                </a:solidFill>
                <a:latin typeface="Inter Bold"/>
                <a:ea typeface="Inter Bold"/>
                <a:cs typeface="Inter Bold"/>
                <a:sym typeface="Inter Bold"/>
              </a:rPr>
              <a:t>CORE STRENGTHS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5095" y="4615377"/>
            <a:ext cx="8739245" cy="2431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1423" lvl="1" indent="-210712" algn="l">
              <a:lnSpc>
                <a:spcPts val="3294"/>
              </a:lnSpc>
              <a:buFont typeface="Arial"/>
              <a:buChar char="•"/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Interactive learning experience</a:t>
            </a:r>
          </a:p>
          <a:p>
            <a:pPr marL="421423" lvl="1" indent="-210712" algn="l">
              <a:lnSpc>
                <a:spcPts val="3294"/>
              </a:lnSpc>
              <a:buFont typeface="Arial"/>
              <a:buChar char="•"/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Automatic answer evaluation</a:t>
            </a:r>
          </a:p>
          <a:p>
            <a:pPr marL="421423" lvl="1" indent="-210712" algn="l">
              <a:lnSpc>
                <a:spcPts val="3294"/>
              </a:lnSpc>
              <a:buFont typeface="Arial"/>
              <a:buChar char="•"/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Instant score generation</a:t>
            </a:r>
          </a:p>
          <a:p>
            <a:pPr marL="421423" lvl="1" indent="-210712" algn="l">
              <a:lnSpc>
                <a:spcPts val="3294"/>
              </a:lnSpc>
              <a:buFont typeface="Arial"/>
              <a:buChar char="•"/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Easy performance tracking</a:t>
            </a:r>
          </a:p>
          <a:p>
            <a:pPr marL="421423" lvl="1" indent="-210712" algn="l">
              <a:lnSpc>
                <a:spcPts val="3294"/>
              </a:lnSpc>
              <a:buFont typeface="Arial"/>
              <a:buChar char="•"/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Flexible and scalable system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255597" y="0"/>
            <a:ext cx="7046243" cy="10295039"/>
            <a:chOff x="0" y="0"/>
            <a:chExt cx="9394990" cy="137267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394952" cy="13726668"/>
            </a:xfrm>
            <a:custGeom>
              <a:avLst/>
              <a:gdLst/>
              <a:ahLst/>
              <a:cxnLst/>
              <a:rect l="l" t="t" r="r" b="b"/>
              <a:pathLst>
                <a:path w="9394952" h="13726668">
                  <a:moveTo>
                    <a:pt x="0" y="0"/>
                  </a:moveTo>
                  <a:lnTo>
                    <a:pt x="9394952" y="0"/>
                  </a:lnTo>
                  <a:lnTo>
                    <a:pt x="9394952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1713150" y="3542347"/>
            <a:ext cx="6588690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FINAL TAKEAWAY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1713150" y="4097760"/>
            <a:ext cx="6130995" cy="47511"/>
            <a:chOff x="0" y="0"/>
            <a:chExt cx="8174660" cy="6334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74609" cy="63247"/>
            </a:xfrm>
            <a:custGeom>
              <a:avLst/>
              <a:gdLst/>
              <a:ahLst/>
              <a:cxnLst/>
              <a:rect l="l" t="t" r="r" b="b"/>
              <a:pathLst>
                <a:path w="8174609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8142986" y="0"/>
                  </a:lnTo>
                  <a:cubicBezTo>
                    <a:pt x="8160512" y="0"/>
                    <a:pt x="8174609" y="14224"/>
                    <a:pt x="8174609" y="31623"/>
                  </a:cubicBezTo>
                  <a:cubicBezTo>
                    <a:pt x="8174609" y="49149"/>
                    <a:pt x="8160385" y="63246"/>
                    <a:pt x="8142986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C4C7C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1713150" y="4464758"/>
            <a:ext cx="76257" cy="2287791"/>
            <a:chOff x="0" y="0"/>
            <a:chExt cx="101676" cy="30503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1727" cy="3050413"/>
            </a:xfrm>
            <a:custGeom>
              <a:avLst/>
              <a:gdLst/>
              <a:ahLst/>
              <a:cxnLst/>
              <a:rect l="l" t="t" r="r" b="b"/>
              <a:pathLst>
                <a:path w="101727" h="3050413">
                  <a:moveTo>
                    <a:pt x="0" y="0"/>
                  </a:moveTo>
                  <a:lnTo>
                    <a:pt x="101727" y="0"/>
                  </a:lnTo>
                  <a:lnTo>
                    <a:pt x="101727" y="3050413"/>
                  </a:lnTo>
                  <a:lnTo>
                    <a:pt x="0" y="3050413"/>
                  </a:lnTo>
                  <a:close/>
                </a:path>
              </a:pathLst>
            </a:custGeom>
            <a:solidFill>
              <a:srgbClr val="2C4C7C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2094435" y="4541053"/>
            <a:ext cx="5749862" cy="209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5"/>
              </a:lnSpc>
            </a:pPr>
            <a:r>
              <a:rPr lang="en-US" sz="3002" i="1">
                <a:solidFill>
                  <a:srgbClr val="1A1A1A"/>
                </a:solidFill>
                <a:latin typeface="Inter Italics"/>
                <a:ea typeface="Inter Italics"/>
                <a:cs typeface="Inter Italics"/>
                <a:sym typeface="Inter Italics"/>
              </a:rPr>
              <a:t>“Interactive quizzes can transform traditional question-answer learning into an engaging digital experience.”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1789407" y="4464758"/>
            <a:ext cx="42891" cy="2287791"/>
            <a:chOff x="0" y="0"/>
            <a:chExt cx="57188" cy="305038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7150" cy="3050413"/>
            </a:xfrm>
            <a:custGeom>
              <a:avLst/>
              <a:gdLst/>
              <a:ahLst/>
              <a:cxnLst/>
              <a:rect l="l" t="t" r="r" b="b"/>
              <a:pathLst>
                <a:path w="57150" h="3050413">
                  <a:moveTo>
                    <a:pt x="0" y="28575"/>
                  </a:moveTo>
                  <a:cubicBezTo>
                    <a:pt x="0" y="12827"/>
                    <a:pt x="12827" y="0"/>
                    <a:pt x="28575" y="0"/>
                  </a:cubicBezTo>
                  <a:cubicBezTo>
                    <a:pt x="44323" y="0"/>
                    <a:pt x="57150" y="12827"/>
                    <a:pt x="57150" y="28575"/>
                  </a:cubicBezTo>
                  <a:lnTo>
                    <a:pt x="57150" y="3021838"/>
                  </a:lnTo>
                  <a:cubicBezTo>
                    <a:pt x="57150" y="3037586"/>
                    <a:pt x="44323" y="3050413"/>
                    <a:pt x="28575" y="3050413"/>
                  </a:cubicBezTo>
                  <a:cubicBezTo>
                    <a:pt x="12827" y="3050413"/>
                    <a:pt x="0" y="3037586"/>
                    <a:pt x="0" y="3021838"/>
                  </a:cubicBezTo>
                  <a:close/>
                </a:path>
              </a:pathLst>
            </a:custGeom>
            <a:solidFill>
              <a:srgbClr val="2C4C7C"/>
            </a:solid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CDCD8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0F0EE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5095" y="915114"/>
            <a:ext cx="17386744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2C4C7C"/>
                </a:solidFill>
                <a:latin typeface="Inter Bold"/>
                <a:ea typeface="Inter Bold"/>
                <a:cs typeface="Inter Bold"/>
                <a:sym typeface="Inter Bold"/>
              </a:rPr>
              <a:t>PROJECT PRESENTATION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5095" y="1470527"/>
            <a:ext cx="2058962" cy="47511"/>
            <a:chOff x="0" y="0"/>
            <a:chExt cx="2745283" cy="633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45232" cy="63247"/>
            </a:xfrm>
            <a:custGeom>
              <a:avLst/>
              <a:gdLst/>
              <a:ahLst/>
              <a:cxnLst/>
              <a:rect l="l" t="t" r="r" b="b"/>
              <a:pathLst>
                <a:path w="2745232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713609" y="0"/>
                  </a:lnTo>
                  <a:cubicBezTo>
                    <a:pt x="2731135" y="0"/>
                    <a:pt x="2745232" y="14224"/>
                    <a:pt x="2745232" y="31623"/>
                  </a:cubicBezTo>
                  <a:cubicBezTo>
                    <a:pt x="2745232" y="49149"/>
                    <a:pt x="2731008" y="63246"/>
                    <a:pt x="2713609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C4C7C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915095" y="3810467"/>
            <a:ext cx="16471659" cy="943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71"/>
              </a:lnSpc>
            </a:pPr>
            <a:r>
              <a:rPr lang="en-US" sz="8706" b="1" spc="-217">
                <a:solidFill>
                  <a:srgbClr val="1A1A1A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THANK 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5095" y="5021189"/>
            <a:ext cx="16471659" cy="497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3903" b="1" spc="-70">
                <a:solidFill>
                  <a:srgbClr val="1A1A1A"/>
                </a:solidFill>
                <a:latin typeface="Archivo Narrow Bold"/>
                <a:ea typeface="Archivo Narrow Bold"/>
                <a:cs typeface="Archivo Narrow Bold"/>
                <a:sym typeface="Archivo Narrow Bold"/>
              </a:rPr>
              <a:t>Questions &amp; Discussion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5095" y="5747214"/>
            <a:ext cx="17386744" cy="46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326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Feedback and inquiries welcome.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15095" y="8344767"/>
            <a:ext cx="16471659" cy="47511"/>
            <a:chOff x="0" y="0"/>
            <a:chExt cx="21962212" cy="6334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62111" cy="63247"/>
            </a:xfrm>
            <a:custGeom>
              <a:avLst/>
              <a:gdLst/>
              <a:ahLst/>
              <a:cxnLst/>
              <a:rect l="l" t="t" r="r" b="b"/>
              <a:pathLst>
                <a:path w="21962111" h="63247">
                  <a:moveTo>
                    <a:pt x="0" y="31623"/>
                  </a:moveTo>
                  <a:cubicBezTo>
                    <a:pt x="0" y="14224"/>
                    <a:pt x="14224" y="0"/>
                    <a:pt x="31623" y="0"/>
                  </a:cubicBezTo>
                  <a:lnTo>
                    <a:pt x="21930488" y="0"/>
                  </a:lnTo>
                  <a:cubicBezTo>
                    <a:pt x="21948014" y="0"/>
                    <a:pt x="21962111" y="14224"/>
                    <a:pt x="21962111" y="31623"/>
                  </a:cubicBezTo>
                  <a:cubicBezTo>
                    <a:pt x="21962111" y="49149"/>
                    <a:pt x="21947887" y="63246"/>
                    <a:pt x="21930488" y="63246"/>
                  </a:cubicBezTo>
                  <a:lnTo>
                    <a:pt x="31623" y="63246"/>
                  </a:lnTo>
                  <a:cubicBezTo>
                    <a:pt x="14224" y="63373"/>
                    <a:pt x="0" y="49149"/>
                    <a:pt x="0" y="31623"/>
                  </a:cubicBezTo>
                  <a:close/>
                </a:path>
              </a:pathLst>
            </a:custGeom>
            <a:solidFill>
              <a:srgbClr val="2C4C7C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915095" y="8711765"/>
            <a:ext cx="4117915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2C4C7C"/>
                </a:solidFill>
                <a:latin typeface="Inter Bold"/>
                <a:ea typeface="Inter Bold"/>
                <a:cs typeface="Inter Bold"/>
                <a:sym typeface="Inter Bold"/>
              </a:rPr>
              <a:t>PROJECT TEAM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5095" y="9081316"/>
            <a:ext cx="4117915" cy="29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576" b="1" spc="15">
                <a:solidFill>
                  <a:srgbClr val="6A6A68"/>
                </a:solidFill>
                <a:latin typeface="Inter Medium"/>
                <a:ea typeface="Inter Medium"/>
                <a:cs typeface="Inter Medium"/>
                <a:sym typeface="Inter Medium"/>
              </a:rPr>
              <a:t>Akash Jaiswar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76167" y="8711765"/>
            <a:ext cx="3774758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2C4C7C"/>
                </a:solidFill>
                <a:latin typeface="Inter Bold"/>
                <a:ea typeface="Inter Bold"/>
                <a:cs typeface="Inter Bold"/>
                <a:sym typeface="Inter Bold"/>
              </a:rPr>
              <a:t>PROJECT TEAM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76167" y="9081316"/>
            <a:ext cx="3774758" cy="29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576" b="1" spc="15">
                <a:solidFill>
                  <a:srgbClr val="6A6A68"/>
                </a:solidFill>
                <a:latin typeface="Inter Medium"/>
                <a:ea typeface="Inter Medium"/>
                <a:cs typeface="Inter Medium"/>
                <a:sym typeface="Inter Medium"/>
              </a:rPr>
              <a:t>Nirbhay More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94082" y="8711765"/>
            <a:ext cx="3774758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2C4C7C"/>
                </a:solidFill>
                <a:latin typeface="Inter Bold"/>
                <a:ea typeface="Inter Bold"/>
                <a:cs typeface="Inter Bold"/>
                <a:sym typeface="Inter Bold"/>
              </a:rPr>
              <a:t>PROJECT TEAM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94082" y="9081316"/>
            <a:ext cx="3774758" cy="29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576" b="1" spc="15">
                <a:solidFill>
                  <a:srgbClr val="6A6A68"/>
                </a:solidFill>
                <a:latin typeface="Inter Medium"/>
                <a:ea typeface="Inter Medium"/>
                <a:cs typeface="Inter Medium"/>
                <a:sym typeface="Inter Medium"/>
              </a:rPr>
              <a:t>Gouss Mulla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611997" y="8711765"/>
            <a:ext cx="3774758" cy="23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3"/>
              </a:lnSpc>
            </a:pPr>
            <a:r>
              <a:rPr lang="en-US" sz="1576" b="1" spc="126">
                <a:solidFill>
                  <a:srgbClr val="2C4C7C"/>
                </a:solidFill>
                <a:latin typeface="Inter Bold"/>
                <a:ea typeface="Inter Bold"/>
                <a:cs typeface="Inter Bold"/>
                <a:sym typeface="Inter Bold"/>
              </a:rPr>
              <a:t>PROJECT TEAM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611997" y="9081316"/>
            <a:ext cx="3774758" cy="29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576" b="1" spc="15">
                <a:solidFill>
                  <a:srgbClr val="6A6A68"/>
                </a:solidFill>
                <a:latin typeface="Inter Medium"/>
                <a:ea typeface="Inter Medium"/>
                <a:cs typeface="Inter Medium"/>
                <a:sym typeface="Inter Medium"/>
              </a:rPr>
              <a:t>Gitesh Netkar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023475" y="8711765"/>
            <a:ext cx="19069" cy="668312"/>
            <a:chOff x="0" y="0"/>
            <a:chExt cx="25425" cy="89108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5400" cy="891032"/>
            </a:xfrm>
            <a:custGeom>
              <a:avLst/>
              <a:gdLst/>
              <a:ahLst/>
              <a:cxnLst/>
              <a:rect l="l" t="t" r="r" b="b"/>
              <a:pathLst>
                <a:path w="25400" h="891032">
                  <a:moveTo>
                    <a:pt x="0" y="0"/>
                  </a:moveTo>
                  <a:lnTo>
                    <a:pt x="25400" y="0"/>
                  </a:lnTo>
                  <a:lnTo>
                    <a:pt x="25400" y="891032"/>
                  </a:lnTo>
                  <a:lnTo>
                    <a:pt x="0" y="891032"/>
                  </a:lnTo>
                  <a:close/>
                </a:path>
              </a:pathLst>
            </a:custGeom>
            <a:solidFill>
              <a:srgbClr val="2C4C7C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9141390" y="8711765"/>
            <a:ext cx="19069" cy="668312"/>
            <a:chOff x="0" y="0"/>
            <a:chExt cx="25425" cy="89108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5400" cy="891032"/>
            </a:xfrm>
            <a:custGeom>
              <a:avLst/>
              <a:gdLst/>
              <a:ahLst/>
              <a:cxnLst/>
              <a:rect l="l" t="t" r="r" b="b"/>
              <a:pathLst>
                <a:path w="25400" h="891032">
                  <a:moveTo>
                    <a:pt x="0" y="0"/>
                  </a:moveTo>
                  <a:lnTo>
                    <a:pt x="25400" y="0"/>
                  </a:lnTo>
                  <a:lnTo>
                    <a:pt x="25400" y="891032"/>
                  </a:lnTo>
                  <a:lnTo>
                    <a:pt x="0" y="891032"/>
                  </a:lnTo>
                  <a:close/>
                </a:path>
              </a:pathLst>
            </a:custGeom>
            <a:solidFill>
              <a:srgbClr val="2C4C7C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3259305" y="8711765"/>
            <a:ext cx="19069" cy="668312"/>
            <a:chOff x="0" y="0"/>
            <a:chExt cx="25425" cy="89108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5400" cy="891032"/>
            </a:xfrm>
            <a:custGeom>
              <a:avLst/>
              <a:gdLst/>
              <a:ahLst/>
              <a:cxnLst/>
              <a:rect l="l" t="t" r="r" b="b"/>
              <a:pathLst>
                <a:path w="25400" h="891032">
                  <a:moveTo>
                    <a:pt x="0" y="0"/>
                  </a:moveTo>
                  <a:lnTo>
                    <a:pt x="25400" y="0"/>
                  </a:lnTo>
                  <a:lnTo>
                    <a:pt x="25400" y="891032"/>
                  </a:lnTo>
                  <a:lnTo>
                    <a:pt x="0" y="891032"/>
                  </a:lnTo>
                  <a:close/>
                </a:path>
              </a:pathLst>
            </a:custGeom>
            <a:solidFill>
              <a:srgbClr val="2C4C7C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659</Words>
  <Application>Microsoft Office PowerPoint</Application>
  <PresentationFormat>Custom</PresentationFormat>
  <Paragraphs>180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Inter Bold</vt:lpstr>
      <vt:lpstr>Archivo Narrow Bold</vt:lpstr>
      <vt:lpstr>Inter Italics</vt:lpstr>
      <vt:lpstr>Inter</vt:lpstr>
      <vt:lpstr>Inter Medium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INTERACTIVE-QUIZ-PROJECT.pptx</dc:title>
  <cp:lastModifiedBy>DELL</cp:lastModifiedBy>
  <cp:revision>2</cp:revision>
  <dcterms:created xsi:type="dcterms:W3CDTF">2006-08-16T00:00:00Z</dcterms:created>
  <dcterms:modified xsi:type="dcterms:W3CDTF">2026-09-24T15:15:56Z</dcterms:modified>
  <dc:identifier>DAHWHT-6kcQ</dc:identifier>
</cp:coreProperties>
</file>